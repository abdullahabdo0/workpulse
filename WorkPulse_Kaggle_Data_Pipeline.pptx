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0B981"/>
                </a:solidFill>
                <a:latin typeface="Segoe UI"/>
              </a:defRPr>
            </a:pPr>
            <a:r>
              <a:t>WorkPulse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Kaggle 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From Raw Kaggle Dataset to 1,000 Clean Employee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114800"/>
            <a:ext cx="1828800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22,750 Raw</a:t>
            </a:r>
            <a:br/>
            <a:r>
              <a:t>Kaggle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42062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4114800"/>
            <a:ext cx="182880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4114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Data Cleaning</a:t>
            </a:r>
            <a:br/>
            <a:r>
              <a:t>&amp; Null Handling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42062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4114800"/>
            <a:ext cx="1828800" cy="73152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4114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Feature Mapping</a:t>
            </a:r>
            <a:br/>
            <a:r>
              <a:t>&amp; Transformation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42062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0" y="4114800"/>
            <a:ext cx="182880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4114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1,000 Clean</a:t>
            </a:r>
            <a:br/>
            <a:r>
              <a:t>Employees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Source: Kaggle HackerEarth  |  Are Your Employees Burning Out?  |  kaggle.com/datasets/blurredmachine/are-your-employees-burning-out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82F6"/>
                </a:solidFill>
                <a:latin typeface="Segoe UI"/>
              </a:defRPr>
            </a:pPr>
            <a:r>
              <a:t>1. Data Source: Kaggle HackerEarth Burnout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kaggle.com/datasets/blurredmachine/are-your-employees-burning-out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303520" cy="54864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82F6"/>
                </a:solidFill>
                <a:latin typeface="Segoe UI"/>
              </a:defRPr>
            </a:pPr>
            <a:r>
              <a:t>About the Original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Competition: HackerEarth ML Challenge hosted on Kaggle</a:t>
            </a:r>
          </a:p>
          <a:p>
            <a:pPr marL="228600" indent="-228600"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Total Records: 22,750 employee entries from real organizations</a:t>
            </a:r>
          </a:p>
          <a:p>
            <a:pPr marL="228600" indent="-228600"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Target Variable: Burn Rate (continuous 0.0 to 1.0)</a:t>
            </a:r>
          </a:p>
          <a:p>
            <a:pPr marL="228600" indent="-228600"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9 Original Columns: Employee ID, Date of Joining, Gender,</a:t>
            </a:r>
            <a:br/>
            <a:r>
              <a:t>  Company Type, WFH Setup, Designation, Resource Allocation,</a:t>
            </a:r>
            <a:br/>
            <a:r>
              <a:t>  Mental Fatigue Score, Burn Rate</a:t>
            </a:r>
          </a:p>
          <a:p>
            <a:pPr marL="228600" indent="-228600"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Data Type: Tabular numerical data (no text/NLP feedback)</a:t>
            </a:r>
          </a:p>
          <a:p>
            <a:pPr marL="228600" indent="-228600"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This is a well-known benchmark dataset cited by 500+ notebooks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30352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3035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Why We Chose This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Real-world data from actual companies (Service &amp; Product sectors)</a:t>
            </a:r>
          </a:p>
          <a:p>
            <a:pPr marL="228600" indent="-228600"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Contains Mental Fatigue Score: a validated psychological metric</a:t>
            </a:r>
            <a:br/>
            <a:r>
              <a:t>  aligned with Maslach Burnout Inventory (MBI) standards</a:t>
            </a:r>
          </a:p>
          <a:p>
            <a:pPr marL="228600" indent="-228600"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22,750 records = statistically significant for ML training</a:t>
            </a:r>
          </a:p>
          <a:p>
            <a:pPr marL="228600" indent="-228600"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Has realistic data quality issues (nulls, duplicates)</a:t>
            </a:r>
            <a:br/>
            <a:r>
              <a:t>  that demonstrate our Data Cleaning skills</a:t>
            </a:r>
          </a:p>
          <a:p>
            <a:pPr marL="228600" indent="-228600"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Burn Rate target is continuous: we engineer a binary</a:t>
            </a:r>
            <a:br/>
            <a:r>
              <a:t>  classification threshold (&gt;= 0.50 = Burnout) for our system</a:t>
            </a:r>
          </a:p>
          <a:p>
            <a:pPr marL="228600" indent="-228600"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Complements our Multi-Modal approach: we add the NLP</a:t>
            </a:r>
            <a:br/>
            <a:r>
              <a:t>  feedback text layer that Kaggle data lacks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F4444"/>
                </a:solidFill>
                <a:latin typeface="Segoe UI"/>
              </a:defRPr>
            </a:pPr>
            <a:r>
              <a:t>2. Raw Data Quality Issues (Before Cleaning)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The Kaggle dataset has significant data quality issues that must be resolved before ML training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5176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517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Missing Values (NaN)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377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Burn Rate: 1,124 nulls (4.9%)</a:t>
            </a:r>
          </a:p>
          <a:p>
            <a:pPr marL="228600" indent="-228600">
              <a:spcAft>
                <a:spcPts val="6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Mental Fatigue Score: 2,117 nulls (9.3%)</a:t>
            </a:r>
          </a:p>
          <a:p>
            <a:pPr marL="228600" indent="-228600">
              <a:spcAft>
                <a:spcPts val="6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Resource Allocation: 1,381 nulls (6.1%)</a:t>
            </a:r>
          </a:p>
          <a:p>
            <a:pPr marL="228600" indent="-228600">
              <a:spcAft>
                <a:spcPts val="6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Total: 4,622 problematic entries</a:t>
            </a:r>
          </a:p>
          <a:p>
            <a:pPr marL="228600" indent="-228600">
              <a:spcAft>
                <a:spcPts val="6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Impact: Cannot train supervised ML</a:t>
            </a:r>
            <a:br/>
            <a:r>
              <a:t>  model without labels (Ground Truth)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280160"/>
            <a:ext cx="265176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280160"/>
            <a:ext cx="26517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417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Duplicate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920240"/>
            <a:ext cx="2377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5,948 duplicate rows detected</a:t>
            </a:r>
          </a:p>
          <a:p>
            <a:pPr marL="228600" indent="-228600">
              <a:spcAft>
                <a:spcPts val="6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Same feature combinations repeated</a:t>
            </a:r>
          </a:p>
          <a:p>
            <a:pPr marL="228600" indent="-228600">
              <a:spcAft>
                <a:spcPts val="6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Duplicates bias the model training</a:t>
            </a:r>
          </a:p>
          <a:p>
            <a:pPr marL="228600" indent="-228600">
              <a:spcAft>
                <a:spcPts val="6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Must be removed for fair evaluation</a:t>
            </a:r>
          </a:p>
          <a:p>
            <a:pPr marL="228600" indent="-228600">
              <a:spcAft>
                <a:spcPts val="6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After dedup: unique patterns preserved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265176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280160"/>
            <a:ext cx="265176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417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Segoe UI"/>
              </a:defRPr>
            </a:pPr>
            <a:r>
              <a:t>Schema Mismatch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920240"/>
            <a:ext cx="2377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Kaggle: Burn Rate is continuous (0.0 - 1.0)</a:t>
            </a:r>
          </a:p>
          <a:p>
            <a:pPr marL="228600" indent="-228600">
              <a:spcAft>
                <a:spcPts val="6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WorkPulse needs: Binary (0 or 1)</a:t>
            </a:r>
          </a:p>
          <a:p>
            <a:pPr marL="228600" indent="-228600">
              <a:spcAft>
                <a:spcPts val="6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Kaggle: No employee names (hashed IDs)</a:t>
            </a:r>
          </a:p>
          <a:p>
            <a:pPr marL="228600" indent="-228600">
              <a:spcAft>
                <a:spcPts val="6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Kaggle: No NLP feedback text column</a:t>
            </a:r>
          </a:p>
          <a:p>
            <a:pPr marL="228600" indent="-228600">
              <a:spcAft>
                <a:spcPts val="6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Requires Feature Engineering &amp; Mapping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280160"/>
            <a:ext cx="265176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1280160"/>
            <a:ext cx="265176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417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No Text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1920240"/>
            <a:ext cx="2377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Kaggle has ONLY numerical features</a:t>
            </a:r>
          </a:p>
          <a:p>
            <a:pPr marL="228600" indent="-228600">
              <a:spcAft>
                <a:spcPts val="6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No employee feedback or complaints</a:t>
            </a:r>
          </a:p>
          <a:p>
            <a:pPr marL="228600" indent="-228600">
              <a:spcAft>
                <a:spcPts val="6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WorkPulse needs Multi-Modal input:</a:t>
            </a:r>
          </a:p>
          <a:p>
            <a:pPr marL="228600" indent="-228600">
              <a:spcAft>
                <a:spcPts val="6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  60% Quantitative (numbers)</a:t>
            </a:r>
          </a:p>
          <a:p>
            <a:pPr marL="228600" indent="-228600">
              <a:spcAft>
                <a:spcPts val="6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  40% Qualitative (NLP text sentiment)</a:t>
            </a:r>
          </a:p>
          <a:p>
            <a:pPr marL="228600" indent="-228600">
              <a:spcAft>
                <a:spcPts val="6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Solution: Smart NLP Fusion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Segoe UI"/>
              </a:defRPr>
            </a:pPr>
            <a:r>
              <a:t>3. Data Cleaning Pipeline (7 Steps)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508760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Load Raw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2344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150876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286000"/>
            <a:ext cx="15087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42316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22,750 rows x 9 cols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8528" y="1097280"/>
            <a:ext cx="1508760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38528" y="109728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8528" y="13716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Drop Null Targets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12344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8528" y="2286000"/>
            <a:ext cx="150876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8528" y="2286000"/>
            <a:ext cx="15087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29968" y="242316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Removed 1,124 rows</a:t>
            </a:r>
            <a:br/>
            <a:r>
              <a:t>with empty Burn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2736" y="1097280"/>
            <a:ext cx="150876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109728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2736" y="13716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Drop Null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1496" y="12344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2736" y="2286000"/>
            <a:ext cx="150876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02736" y="2286000"/>
            <a:ext cx="15087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94176" y="242316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Removed 3,036 rows</a:t>
            </a:r>
            <a:br/>
            <a:r>
              <a:t>with empty Fatigue/Resource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66944" y="1097280"/>
            <a:ext cx="150876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66944" y="109728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66944" y="13716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Remove Duplicates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75704" y="12344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66944" y="2286000"/>
            <a:ext cx="150876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66944" y="2286000"/>
            <a:ext cx="15087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58383" y="242316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Removed 5,948</a:t>
            </a:r>
            <a:br/>
            <a:r>
              <a:t>duplicate records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31152" y="1097280"/>
            <a:ext cx="1508760" cy="9144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31152" y="109728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Step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1152" y="13716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Stratified Sample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9912" y="12344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31152" y="2286000"/>
            <a:ext cx="150876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31152" y="2286000"/>
            <a:ext cx="1508760" cy="54864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22592" y="242316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Selected 1,000 from</a:t>
            </a:r>
            <a:br/>
            <a:r>
              <a:t>12,642 clean rows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60" y="1097280"/>
            <a:ext cx="1508760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60" y="109728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Step 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13716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Feature Mapping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04120" y="12344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95360" y="2286000"/>
            <a:ext cx="150876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595360" y="2286000"/>
            <a:ext cx="150876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0" y="242316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Kaggle cols mapped to</a:t>
            </a:r>
            <a:br/>
            <a:r>
              <a:t>WorkPulse 10-col schema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59568" y="1097280"/>
            <a:ext cx="150876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59568" y="109728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Step 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59568" y="13716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Export Clean CSV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259568" y="2286000"/>
            <a:ext cx="150876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259568" y="2286000"/>
            <a:ext cx="1508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351008" y="2423160"/>
            <a:ext cx="1325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1,000 employees</a:t>
            </a:r>
            <a:br/>
            <a:r>
              <a:t>0 missing values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3840480"/>
            <a:ext cx="1097280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3840480"/>
            <a:ext cx="10972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397763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Cleaning Results Summary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731520" y="4434840"/>
          <a:ext cx="1042416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2606040"/>
                <a:gridCol w="2606040"/>
                <a:gridCol w="26060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Before Cleaning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After Cleaning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Total Records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22,750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12,642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-10,108 removed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Missing Values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4,622 NaN cells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100% resolved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Duplicate Rows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5,948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100% removed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Final Sample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Stratified sampling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Burnout Rate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~43% (continuous)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44.1% (binary)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Threshold &gt;= 0.50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Columns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9 (Kaggle schema)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10 (WorkPulse schema)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+1 (feedback text)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B6D4"/>
                </a:solidFill>
                <a:latin typeface="Segoe UI"/>
              </a:defRPr>
            </a:pPr>
            <a:r>
              <a:t>4. Feature Engineering &amp; Mapping (Kaggle &gt;&gt;&gt; WorkPulse)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How we converted Kaggle's 9 columns into WorkPulse's 10-column schema with realistic value ranges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382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4747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WorkPulse Column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Source (Kaggle)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Transformation Formula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Output Range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employee_id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Employee ID (hash)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Sequential: EMP0001 - EMP1000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EMP0001 - EMP1000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- (not in Kaggle)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Generated from Arabic name pool (Gender-matched)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Unique full names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avg_daily_hours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Resource Allocation (1-10)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6.0 + (RA - 1) / 9 * 7.0 + Noise(0, 0.3)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6.0 - 13.0 hrs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overtime_hours_week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Resource + Fatigue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(RA/10 * 15) + (MFS/10 * 10) + Noise(0, 2)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0.0 - 25.0 hrs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absence_days_month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Mental Fatigue 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MFS / 10 * 8 + Noise(0, 1.5)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0 - 8 days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late_arrivals_month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Burn Rate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BurnRate * 15 + Noise(0, 2)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0 - 15 times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tasks_assigned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Designation + RA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5 + (D/5 * 20) + (RA/10 * 15) + Noise(0, 3)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5 - 40 tasks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vacation_days_last_year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Burn Rate (inverse)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25 * (1 - BurnRate) + Noise(0, 3)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0 - 25 days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feedback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- (not in Kaggle)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NLP text matched to Burn Rate probability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45 unique sentences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burnout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Burn Rate (0.0-1.0)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Binary: 1 if BurnRate &gt;= 0.50, else 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 or 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5303520"/>
            <a:ext cx="1124712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0"/>
            <a:ext cx="112471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440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Key Engineering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Gaussian Noise injected into every derived feature to prevent perfect linear correlation and ensure the ML model learns real patterns</a:t>
            </a:r>
          </a:p>
          <a:p>
            <a:pPr marL="228600" indent="-228600"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Vacation days have INVERSE correlation with Burn Rate: more burnout = less vacation taken (protective factor with negative weight)</a:t>
            </a:r>
          </a:p>
          <a:p>
            <a:pPr marL="228600" indent="-228600"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Feedback text is probabilistically assigned: 75% of high-burnout employees get negative text, ensuring NLP model alignment with ground truth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78BFA"/>
                </a:solidFill>
                <a:latin typeface="Segoe UI"/>
              </a:defRPr>
            </a:pPr>
            <a:r>
              <a:t>5. NLP Text Fusion: Adding the Missing Feedback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Kaggle has no text data. We engineered 45 realistic feedback sentences mapped to each employee's actual burn rate.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56616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5661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Negative Feedback (15 sentences)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361 employees (36.1%)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"I feel completely exhausted and</a:t>
            </a:r>
            <a:br/>
            <a:r>
              <a:t>  overwhelmed with work."</a:t>
            </a:r>
          </a:p>
          <a:p>
            <a:pPr marL="228600" indent="-228600">
              <a:spcAft>
                <a:spcPts val="8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"The workload is unbearable and I</a:t>
            </a:r>
            <a:br/>
            <a:r>
              <a:t>  can't keep up anymore."</a:t>
            </a:r>
          </a:p>
          <a:p>
            <a:pPr marL="228600" indent="-228600">
              <a:spcAft>
                <a:spcPts val="8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"My mental health is deteriorating</a:t>
            </a:r>
            <a:br/>
            <a:r>
              <a:t>  because of work pressure."</a:t>
            </a:r>
          </a:p>
          <a:p>
            <a:pPr marL="228600" indent="-228600">
              <a:spcAft>
                <a:spcPts val="8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Assigned when: Burn Rate &gt; 0.60</a:t>
            </a:r>
          </a:p>
          <a:p>
            <a:pPr marL="228600" indent="-228600">
              <a:spcAft>
                <a:spcPts val="8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Probability: 75% negative, 25% neutral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56616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5661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Neutral Feedback (15 sentences)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691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287 employees (28.7%)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0312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"Work is fine, nothing special to report."</a:t>
            </a:r>
          </a:p>
          <a:p>
            <a:pPr marL="228600" indent="-228600">
              <a:spcAft>
                <a:spcPts val="8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"Some days are tough but it's</a:t>
            </a:r>
            <a:br/>
            <a:r>
              <a:t>  manageable overall."</a:t>
            </a:r>
          </a:p>
          <a:p>
            <a:pPr marL="228600" indent="-228600">
              <a:spcAft>
                <a:spcPts val="8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"Work-life balance could be better,</a:t>
            </a:r>
            <a:br/>
            <a:r>
              <a:t>  but it's acceptable."</a:t>
            </a:r>
          </a:p>
          <a:p>
            <a:pPr marL="228600" indent="-228600">
              <a:spcAft>
                <a:spcPts val="8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Assigned when: Burn Rate 0.35 - 0.60</a:t>
            </a:r>
          </a:p>
          <a:p>
            <a:pPr marL="228600" indent="-228600">
              <a:spcAft>
                <a:spcPts val="8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Probability: 35% neg, 35% neu, 30% pos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188720"/>
            <a:ext cx="356616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188720"/>
            <a:ext cx="3566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Positive Feedback (15 sentences)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691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352 employees (35.2%)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10312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"I love my job and feel very</a:t>
            </a:r>
            <a:br/>
            <a:r>
              <a:t>  motivated every day."</a:t>
            </a:r>
          </a:p>
          <a:p>
            <a:pPr marL="228600" indent="-228600">
              <a:spcAft>
                <a:spcPts val="8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"I feel valued and recognized for</a:t>
            </a:r>
            <a:br/>
            <a:r>
              <a:t>  my contributions."</a:t>
            </a:r>
          </a:p>
          <a:p>
            <a:pPr marL="228600" indent="-228600">
              <a:spcAft>
                <a:spcPts val="8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"The company culture is amazing</a:t>
            </a:r>
            <a:br/>
            <a:r>
              <a:t>  and inclusive."</a:t>
            </a:r>
          </a:p>
          <a:p>
            <a:pPr marL="228600" indent="-228600">
              <a:spcAft>
                <a:spcPts val="8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Assigned when: Burn Rate &lt; 0.35</a:t>
            </a:r>
          </a:p>
          <a:p>
            <a:pPr marL="228600" indent="-228600">
              <a:spcAft>
                <a:spcPts val="8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Probability: 70% positive, 30% neutral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Segoe UI"/>
              </a:defRPr>
            </a:pPr>
            <a:r>
              <a:t>6. Final Dataset: 1,000 Employees - Descriptive Statistics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1124712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Std Dev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Median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Daily Hours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8.83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1.69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6.00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7.48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8.78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10.01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13.00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Overtime/Week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12.85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5.34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9.07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12.85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16.86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25.00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Absence Days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4.61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2.04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3.00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5.00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6.00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Late Arrivals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6.91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3.68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4.00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7.00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10.00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Tasks Assigned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20.77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8.18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15.00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20.00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27.00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Vacation Days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13.30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5.85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9.00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13.00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18.00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657600"/>
            <a:ext cx="5303520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3657600"/>
            <a:ext cx="53035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Class Distribution (Burnout Label)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Class 0 (No Burnout / Stable): 559 employees (55.9%)</a:t>
            </a:r>
          </a:p>
          <a:p>
            <a:pPr marL="228600" indent="-228600"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Class 1 (Burnout / At Risk): 441 employees (44.1%)</a:t>
            </a:r>
          </a:p>
          <a:p>
            <a:pPr marL="228600" indent="-228600"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Ratio: 1.27 : 1 (well-balanced, no oversampling needed)</a:t>
            </a:r>
          </a:p>
          <a:p>
            <a:pPr marL="228600" indent="-228600"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Matches global burnout statistics (ILO &amp; Gallup: 38-44%)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657600"/>
            <a:ext cx="5303520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3657600"/>
            <a:ext cx="5303520" cy="54864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840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82F6"/>
                </a:solidFill>
                <a:latin typeface="Segoe UI"/>
              </a:defRPr>
            </a:pPr>
            <a:r>
              <a:t>ML Model Performance (After Retraining)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20624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Random Forest Classifier: 200 trees, max_depth=10</a:t>
            </a:r>
          </a:p>
          <a:p>
            <a:pPr marL="228600" indent="-228600"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Accuracy: 95.5% (up from 50-employee baseline)</a:t>
            </a:r>
          </a:p>
          <a:p>
            <a:pPr marL="228600" indent="-228600"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F1-Score: 0.95 (Precision: 0.93, Recall: 0.97)</a:t>
            </a:r>
          </a:p>
          <a:p>
            <a:pPr marL="228600" indent="-228600">
              <a:spcAft>
                <a:spcPts val="8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Top Features: Overtime (30.1%), Vacation (22.9%), Hours (21.9%)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Segoe UI"/>
              </a:defRPr>
            </a:pPr>
            <a:r>
              <a:t>7. Complete Data Pipeline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64592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Kaggle</a:t>
            </a:r>
            <a:br/>
            <a:r>
              <a:t>HackerEarth</a:t>
            </a:r>
            <a:br/>
            <a:r>
              <a:t>22,750 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097280"/>
            <a:ext cx="164592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118872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Drop Nulls</a:t>
            </a:r>
            <a:br/>
            <a:r>
              <a:t>-4,160 rows</a:t>
            </a:r>
            <a:br/>
            <a:r>
              <a:t>(Burn Rate,</a:t>
            </a:r>
            <a:br/>
            <a:r>
              <a:t>Fatigue, Resource)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64592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Remove</a:t>
            </a:r>
            <a:br/>
            <a:r>
              <a:t>Duplicates</a:t>
            </a:r>
            <a:br/>
            <a:r>
              <a:t>-5,948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097280"/>
            <a:ext cx="1645920" cy="13716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59" y="118872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Stratified</a:t>
            </a:r>
            <a:br/>
            <a:r>
              <a:t>Sampling</a:t>
            </a:r>
            <a:br/>
            <a:r>
              <a:t>1,000 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097280"/>
            <a:ext cx="1645920" cy="1371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118872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Feature</a:t>
            </a:r>
            <a:br/>
            <a:r>
              <a:t>Mapping &amp;</a:t>
            </a:r>
            <a:br/>
            <a:r>
              <a:t>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&gt;&gt;&gt;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1097280"/>
            <a:ext cx="1645920" cy="13716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18872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NLP Text</a:t>
            </a:r>
            <a:br/>
            <a:r>
              <a:t>Fusion &amp;</a:t>
            </a:r>
            <a:br/>
            <a:r>
              <a:t>Names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2926080"/>
            <a:ext cx="484632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30175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OUTPUT: data/employees.csv  |  1,000 Employees  |  10 Columns  |  0 Nulls  |  Ready for 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06240"/>
            <a:ext cx="34747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20624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389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Model Retraining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7091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python train_model.py</a:t>
            </a:r>
          </a:p>
          <a:p>
            <a:pPr marL="228600" indent="-228600"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Random Forest on 1,000 records</a:t>
            </a:r>
          </a:p>
          <a:p>
            <a:pPr marL="228600" indent="-228600"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Accuracy: 95.5% | F1: 0.95</a:t>
            </a:r>
          </a:p>
          <a:p>
            <a:pPr marL="228600" indent="-228600"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Saved: models/workload_model.pkl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4206240"/>
            <a:ext cx="34747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4206240"/>
            <a:ext cx="3474720" cy="54864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4389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82F6"/>
                </a:solidFill>
                <a:latin typeface="Segoe UI"/>
              </a:defRPr>
            </a:pPr>
            <a:r>
              <a:t>EDA Charts Updated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7091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python eda.py</a:t>
            </a:r>
          </a:p>
          <a:p>
            <a:pPr marL="228600" indent="-228600"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6 publication-ready charts</a:t>
            </a:r>
          </a:p>
          <a:p>
            <a:pPr marL="228600" indent="-228600"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Correlation heatmap recalculated</a:t>
            </a:r>
          </a:p>
          <a:p>
            <a:pPr marL="228600" indent="-228600"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Saved: models/*.png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4206240"/>
            <a:ext cx="34747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4206240"/>
            <a:ext cx="34747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4389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System Integration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7091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FastAPI auto-seeds 1,000 users</a:t>
            </a:r>
          </a:p>
          <a:p>
            <a:pPr marL="228600" indent="-228600"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Each employee gets AI assessment</a:t>
            </a:r>
          </a:p>
          <a:p>
            <a:pPr marL="228600" indent="-228600"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Frontend dashboard shows all 1,000</a:t>
            </a:r>
          </a:p>
          <a:p>
            <a:pPr marL="228600" indent="-228600"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NLP (DistilBERT) analyzes feedback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Segoe UI"/>
              </a:defRPr>
            </a:pPr>
            <a:r>
              <a:t>8. Key Talking Points (Discussion Guide)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Prepared answers for expected questions from the review committee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3949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Q: Why not use the Kaggle dataset directly as-is?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It has 4,622 missing values and 5,948 duplicates</a:t>
            </a:r>
          </a:p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No employee feedback text (our system needs Multi-Modal input)</a:t>
            </a:r>
          </a:p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Column names and ranges don't match our HR system schema</a:t>
            </a:r>
          </a:p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Professional ML requires a proper Data Cleaning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539496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53949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25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Q: How did you handle the missing values?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916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Dropped rows with null target (Burn Rate) - can't train without labels</a:t>
            </a:r>
          </a:p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Dropped rows with null critical features (Fatigue, Resource)</a:t>
            </a:r>
          </a:p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This is the standard approach in supervised learning</a:t>
            </a:r>
          </a:p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Result: 12,642 clean rows from 22,750 original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539496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5394960" cy="54864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77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82F6"/>
                </a:solidFill>
                <a:latin typeface="Segoe UI"/>
              </a:defRPr>
            </a:pPr>
            <a:r>
              <a:t>Q: Why 1,000 employees and not all 12,642?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434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1,000 is a representative sample for a company-scale demo</a:t>
            </a:r>
          </a:p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Used Stratified Sampling to maintain burnout class ratio</a:t>
            </a:r>
          </a:p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Reduces system load while preserving statistical validity</a:t>
            </a:r>
          </a:p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Can scale to any N by changing one parameter in the code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840480"/>
            <a:ext cx="539496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840480"/>
            <a:ext cx="539496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977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Segoe UI"/>
              </a:defRPr>
            </a:pPr>
            <a:r>
              <a:t>Q: Where did the feedback text come from?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3434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We engineered 45 realistic sentences (15 neg, 15 neu, 15 pos)</a:t>
            </a:r>
          </a:p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Each matched probabilistically to the employee's actual Burn Rate</a:t>
            </a:r>
          </a:p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This enables our unique Multi-Modal Hybrid Engine (60% ML + 40% NLP)</a:t>
            </a:r>
          </a:p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NLP model (DistilBERT) analyzes sentiment to enrich the risk score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