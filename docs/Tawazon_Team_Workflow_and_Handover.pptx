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3840480" cy="411480"/>
          </a:xfrm>
          <a:prstGeom prst="rect">
            <a:avLst/>
          </a:prstGeom>
          <a:solidFill>
            <a:srgbClr val="1E2942"/>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70432"/>
            <a:ext cx="3474720" cy="274320"/>
          </a:xfrm>
          <a:prstGeom prst="rect">
            <a:avLst/>
          </a:prstGeom>
          <a:noFill/>
        </p:spPr>
        <p:txBody>
          <a:bodyPr wrap="square">
            <a:spAutoFit/>
          </a:bodyPr>
          <a:lstStyle/>
          <a:p>
            <a:pPr algn="l">
              <a:defRPr sz="1200" b="1">
                <a:solidFill>
                  <a:srgbClr val="38BDF8"/>
                </a:solidFill>
                <a:latin typeface="Segoe UI"/>
              </a:defRPr>
            </a:pPr>
            <a:r>
              <a:t>WORKPULSE PIPELINE &amp; HANDOVER</a:t>
            </a:r>
          </a:p>
        </p:txBody>
      </p:sp>
      <p:sp>
        <p:nvSpPr>
          <p:cNvPr id="5" name="TextBox 4"/>
          <p:cNvSpPr txBox="1"/>
          <p:nvPr/>
        </p:nvSpPr>
        <p:spPr>
          <a:xfrm>
            <a:off x="731520" y="1737360"/>
            <a:ext cx="10515600" cy="822960"/>
          </a:xfrm>
          <a:prstGeom prst="rect">
            <a:avLst/>
          </a:prstGeom>
          <a:noFill/>
        </p:spPr>
        <p:txBody>
          <a:bodyPr wrap="square">
            <a:spAutoFit/>
          </a:bodyPr>
          <a:lstStyle/>
          <a:p>
            <a:pPr algn="l">
              <a:defRPr sz="3200" b="1">
                <a:solidFill>
                  <a:srgbClr val="FFFFFF"/>
                </a:solidFill>
                <a:latin typeface="Segoe UI"/>
              </a:defRPr>
            </a:pPr>
            <a:r>
              <a:t>رحلة بناء المشروع وتسلسل العمل بين الفريق</a:t>
            </a:r>
          </a:p>
        </p:txBody>
      </p:sp>
      <p:sp>
        <p:nvSpPr>
          <p:cNvPr id="6" name="TextBox 5"/>
          <p:cNvSpPr txBox="1"/>
          <p:nvPr/>
        </p:nvSpPr>
        <p:spPr>
          <a:xfrm>
            <a:off x="731520" y="2651760"/>
            <a:ext cx="10515600" cy="457200"/>
          </a:xfrm>
          <a:prstGeom prst="rect">
            <a:avLst/>
          </a:prstGeom>
          <a:noFill/>
        </p:spPr>
        <p:txBody>
          <a:bodyPr wrap="square">
            <a:spAutoFit/>
          </a:bodyPr>
          <a:lstStyle/>
          <a:p>
            <a:pPr algn="l">
              <a:defRPr sz="1600" b="0">
                <a:solidFill>
                  <a:srgbClr val="94A3B8"/>
                </a:solidFill>
                <a:latin typeface="Segoe UI"/>
              </a:defRPr>
            </a:pPr>
            <a:r>
              <a:t>من بدأ أولاً؟ ماذا سلّم لمن؟ وكيف اندمجت كل القطع في منصة ذكاء اصطناعي متكاملة؟</a:t>
            </a:r>
          </a:p>
        </p:txBody>
      </p:sp>
      <p:sp>
        <p:nvSpPr>
          <p:cNvPr id="7" name="Rectangle 6"/>
          <p:cNvSpPr/>
          <p:nvPr/>
        </p:nvSpPr>
        <p:spPr>
          <a:xfrm>
            <a:off x="731520" y="3657600"/>
            <a:ext cx="2029968" cy="2194560"/>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657600"/>
            <a:ext cx="2029968" cy="7315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840480"/>
            <a:ext cx="1737360" cy="365760"/>
          </a:xfrm>
          <a:prstGeom prst="rect">
            <a:avLst/>
          </a:prstGeom>
          <a:noFill/>
        </p:spPr>
        <p:txBody>
          <a:bodyPr wrap="square">
            <a:spAutoFit/>
          </a:bodyPr>
          <a:lstStyle/>
          <a:p>
            <a:pPr algn="l">
              <a:defRPr sz="2000" b="1">
                <a:solidFill>
                  <a:srgbClr val="FB923C"/>
                </a:solidFill>
                <a:latin typeface="Segoe UI"/>
              </a:defRPr>
            </a:pPr>
            <a:r>
              <a:t>01</a:t>
            </a:r>
          </a:p>
        </p:txBody>
      </p:sp>
      <p:sp>
        <p:nvSpPr>
          <p:cNvPr id="10" name="TextBox 9"/>
          <p:cNvSpPr txBox="1"/>
          <p:nvPr/>
        </p:nvSpPr>
        <p:spPr>
          <a:xfrm>
            <a:off x="868680" y="4297680"/>
            <a:ext cx="1737360" cy="320040"/>
          </a:xfrm>
          <a:prstGeom prst="rect">
            <a:avLst/>
          </a:prstGeom>
          <a:noFill/>
        </p:spPr>
        <p:txBody>
          <a:bodyPr wrap="square">
            <a:spAutoFit/>
          </a:bodyPr>
          <a:lstStyle/>
          <a:p>
            <a:pPr algn="l">
              <a:defRPr sz="1400" b="1">
                <a:solidFill>
                  <a:srgbClr val="FFFFFF"/>
                </a:solidFill>
                <a:latin typeface="Segoe UI"/>
              </a:defRPr>
            </a:pPr>
            <a:r>
              <a:t>Eng. Assma</a:t>
            </a:r>
          </a:p>
        </p:txBody>
      </p:sp>
      <p:sp>
        <p:nvSpPr>
          <p:cNvPr id="11" name="TextBox 10"/>
          <p:cNvSpPr txBox="1"/>
          <p:nvPr/>
        </p:nvSpPr>
        <p:spPr>
          <a:xfrm>
            <a:off x="868680" y="4754880"/>
            <a:ext cx="1737360" cy="822960"/>
          </a:xfrm>
          <a:prstGeom prst="rect">
            <a:avLst/>
          </a:prstGeom>
          <a:noFill/>
        </p:spPr>
        <p:txBody>
          <a:bodyPr wrap="square">
            <a:spAutoFit/>
          </a:bodyPr>
          <a:lstStyle/>
          <a:p>
            <a:pPr algn="l">
              <a:defRPr sz="1100" b="0">
                <a:solidFill>
                  <a:srgbClr val="94A3B8"/>
                </a:solidFill>
                <a:latin typeface="Segoe UI"/>
              </a:defRPr>
            </a:pPr>
            <a:r>
              <a:t>المرحلة 1: توليد وهندسة البيانات</a:t>
            </a:r>
          </a:p>
        </p:txBody>
      </p:sp>
      <p:sp>
        <p:nvSpPr>
          <p:cNvPr id="12" name="Rectangle 11"/>
          <p:cNvSpPr/>
          <p:nvPr/>
        </p:nvSpPr>
        <p:spPr>
          <a:xfrm>
            <a:off x="2898648" y="3657600"/>
            <a:ext cx="2029968" cy="2194560"/>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98648" y="3657600"/>
            <a:ext cx="2029968"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5808" y="3840480"/>
            <a:ext cx="1737360" cy="365760"/>
          </a:xfrm>
          <a:prstGeom prst="rect">
            <a:avLst/>
          </a:prstGeom>
          <a:noFill/>
        </p:spPr>
        <p:txBody>
          <a:bodyPr wrap="square">
            <a:spAutoFit/>
          </a:bodyPr>
          <a:lstStyle/>
          <a:p>
            <a:pPr algn="l">
              <a:defRPr sz="2000" b="1">
                <a:solidFill>
                  <a:srgbClr val="FBBF24"/>
                </a:solidFill>
                <a:latin typeface="Segoe UI"/>
              </a:defRPr>
            </a:pPr>
            <a:r>
              <a:t>02</a:t>
            </a:r>
          </a:p>
        </p:txBody>
      </p:sp>
      <p:sp>
        <p:nvSpPr>
          <p:cNvPr id="15" name="TextBox 14"/>
          <p:cNvSpPr txBox="1"/>
          <p:nvPr/>
        </p:nvSpPr>
        <p:spPr>
          <a:xfrm>
            <a:off x="3035808" y="4297680"/>
            <a:ext cx="1737360" cy="320040"/>
          </a:xfrm>
          <a:prstGeom prst="rect">
            <a:avLst/>
          </a:prstGeom>
          <a:noFill/>
        </p:spPr>
        <p:txBody>
          <a:bodyPr wrap="square">
            <a:spAutoFit/>
          </a:bodyPr>
          <a:lstStyle/>
          <a:p>
            <a:pPr algn="l">
              <a:defRPr sz="1400" b="1">
                <a:solidFill>
                  <a:srgbClr val="FFFFFF"/>
                </a:solidFill>
                <a:latin typeface="Segoe UI"/>
              </a:defRPr>
            </a:pPr>
            <a:r>
              <a:t>Eng. Abdullah</a:t>
            </a:r>
          </a:p>
        </p:txBody>
      </p:sp>
      <p:sp>
        <p:nvSpPr>
          <p:cNvPr id="16" name="TextBox 15"/>
          <p:cNvSpPr txBox="1"/>
          <p:nvPr/>
        </p:nvSpPr>
        <p:spPr>
          <a:xfrm>
            <a:off x="3035808" y="4754880"/>
            <a:ext cx="1737360" cy="822960"/>
          </a:xfrm>
          <a:prstGeom prst="rect">
            <a:avLst/>
          </a:prstGeom>
          <a:noFill/>
        </p:spPr>
        <p:txBody>
          <a:bodyPr wrap="square">
            <a:spAutoFit/>
          </a:bodyPr>
          <a:lstStyle/>
          <a:p>
            <a:pPr algn="l">
              <a:defRPr sz="1100" b="0">
                <a:solidFill>
                  <a:srgbClr val="94A3B8"/>
                </a:solidFill>
                <a:latin typeface="Segoe UI"/>
              </a:defRPr>
            </a:pPr>
            <a:r>
              <a:t>المرحلة 2-أ: تدريب نموذج ML</a:t>
            </a:r>
          </a:p>
        </p:txBody>
      </p:sp>
      <p:sp>
        <p:nvSpPr>
          <p:cNvPr id="17" name="Rectangle 16"/>
          <p:cNvSpPr/>
          <p:nvPr/>
        </p:nvSpPr>
        <p:spPr>
          <a:xfrm>
            <a:off x="5065776" y="3657600"/>
            <a:ext cx="2029968" cy="2194560"/>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65776" y="3657600"/>
            <a:ext cx="2029968"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02936" y="3840480"/>
            <a:ext cx="1737360" cy="365760"/>
          </a:xfrm>
          <a:prstGeom prst="rect">
            <a:avLst/>
          </a:prstGeom>
          <a:noFill/>
        </p:spPr>
        <p:txBody>
          <a:bodyPr wrap="square">
            <a:spAutoFit/>
          </a:bodyPr>
          <a:lstStyle/>
          <a:p>
            <a:pPr algn="l">
              <a:defRPr sz="2000" b="1">
                <a:solidFill>
                  <a:srgbClr val="C084FC"/>
                </a:solidFill>
                <a:latin typeface="Segoe UI"/>
              </a:defRPr>
            </a:pPr>
            <a:r>
              <a:t>03</a:t>
            </a:r>
          </a:p>
        </p:txBody>
      </p:sp>
      <p:sp>
        <p:nvSpPr>
          <p:cNvPr id="20" name="TextBox 19"/>
          <p:cNvSpPr txBox="1"/>
          <p:nvPr/>
        </p:nvSpPr>
        <p:spPr>
          <a:xfrm>
            <a:off x="5202936" y="4297680"/>
            <a:ext cx="1737360" cy="320040"/>
          </a:xfrm>
          <a:prstGeom prst="rect">
            <a:avLst/>
          </a:prstGeom>
          <a:noFill/>
        </p:spPr>
        <p:txBody>
          <a:bodyPr wrap="square">
            <a:spAutoFit/>
          </a:bodyPr>
          <a:lstStyle/>
          <a:p>
            <a:pPr algn="l">
              <a:defRPr sz="1400" b="1">
                <a:solidFill>
                  <a:srgbClr val="FFFFFF"/>
                </a:solidFill>
                <a:latin typeface="Segoe UI"/>
              </a:defRPr>
            </a:pPr>
            <a:r>
              <a:t>Eng. Shimaa</a:t>
            </a:r>
          </a:p>
        </p:txBody>
      </p:sp>
      <p:sp>
        <p:nvSpPr>
          <p:cNvPr id="21" name="TextBox 20"/>
          <p:cNvSpPr txBox="1"/>
          <p:nvPr/>
        </p:nvSpPr>
        <p:spPr>
          <a:xfrm>
            <a:off x="5202936" y="4754880"/>
            <a:ext cx="1737360" cy="822960"/>
          </a:xfrm>
          <a:prstGeom prst="rect">
            <a:avLst/>
          </a:prstGeom>
          <a:noFill/>
        </p:spPr>
        <p:txBody>
          <a:bodyPr wrap="square">
            <a:spAutoFit/>
          </a:bodyPr>
          <a:lstStyle/>
          <a:p>
            <a:pPr algn="l">
              <a:defRPr sz="1100" b="0">
                <a:solidFill>
                  <a:srgbClr val="94A3B8"/>
                </a:solidFill>
                <a:latin typeface="Segoe UI"/>
              </a:defRPr>
            </a:pPr>
            <a:r>
              <a:t>المرحلة 2-ب: معالجة النصوص NLP</a:t>
            </a:r>
          </a:p>
        </p:txBody>
      </p:sp>
      <p:sp>
        <p:nvSpPr>
          <p:cNvPr id="22" name="Rectangle 21"/>
          <p:cNvSpPr/>
          <p:nvPr/>
        </p:nvSpPr>
        <p:spPr>
          <a:xfrm>
            <a:off x="7232904" y="3657600"/>
            <a:ext cx="2029968" cy="2194560"/>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32904" y="3657600"/>
            <a:ext cx="2029968"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70064" y="3840480"/>
            <a:ext cx="1737360" cy="365760"/>
          </a:xfrm>
          <a:prstGeom prst="rect">
            <a:avLst/>
          </a:prstGeom>
          <a:noFill/>
        </p:spPr>
        <p:txBody>
          <a:bodyPr wrap="square">
            <a:spAutoFit/>
          </a:bodyPr>
          <a:lstStyle/>
          <a:p>
            <a:pPr algn="l">
              <a:defRPr sz="2000" b="1">
                <a:solidFill>
                  <a:srgbClr val="38BDF8"/>
                </a:solidFill>
                <a:latin typeface="Segoe UI"/>
              </a:defRPr>
            </a:pPr>
            <a:r>
              <a:t>04</a:t>
            </a:r>
          </a:p>
        </p:txBody>
      </p:sp>
      <p:sp>
        <p:nvSpPr>
          <p:cNvPr id="25" name="TextBox 24"/>
          <p:cNvSpPr txBox="1"/>
          <p:nvPr/>
        </p:nvSpPr>
        <p:spPr>
          <a:xfrm>
            <a:off x="7370064" y="4297680"/>
            <a:ext cx="1737360" cy="320040"/>
          </a:xfrm>
          <a:prstGeom prst="rect">
            <a:avLst/>
          </a:prstGeom>
          <a:noFill/>
        </p:spPr>
        <p:txBody>
          <a:bodyPr wrap="square">
            <a:spAutoFit/>
          </a:bodyPr>
          <a:lstStyle/>
          <a:p>
            <a:pPr algn="l">
              <a:defRPr sz="1400" b="1">
                <a:solidFill>
                  <a:srgbClr val="FFFFFF"/>
                </a:solidFill>
                <a:latin typeface="Segoe UI"/>
              </a:defRPr>
            </a:pPr>
            <a:r>
              <a:t>Eng. Ahmed</a:t>
            </a:r>
          </a:p>
        </p:txBody>
      </p:sp>
      <p:sp>
        <p:nvSpPr>
          <p:cNvPr id="26" name="TextBox 25"/>
          <p:cNvSpPr txBox="1"/>
          <p:nvPr/>
        </p:nvSpPr>
        <p:spPr>
          <a:xfrm>
            <a:off x="7370064" y="4754880"/>
            <a:ext cx="1737360" cy="822960"/>
          </a:xfrm>
          <a:prstGeom prst="rect">
            <a:avLst/>
          </a:prstGeom>
          <a:noFill/>
        </p:spPr>
        <p:txBody>
          <a:bodyPr wrap="square">
            <a:spAutoFit/>
          </a:bodyPr>
          <a:lstStyle/>
          <a:p>
            <a:pPr algn="l">
              <a:defRPr sz="1100" b="0">
                <a:solidFill>
                  <a:srgbClr val="94A3B8"/>
                </a:solidFill>
                <a:latin typeface="Segoe UI"/>
              </a:defRPr>
            </a:pPr>
            <a:r>
              <a:t>المرحلة 3: الباك إند وقاعدة البيانات</a:t>
            </a:r>
          </a:p>
        </p:txBody>
      </p:sp>
      <p:sp>
        <p:nvSpPr>
          <p:cNvPr id="27" name="Rectangle 26"/>
          <p:cNvSpPr/>
          <p:nvPr/>
        </p:nvSpPr>
        <p:spPr>
          <a:xfrm>
            <a:off x="9400032" y="3657600"/>
            <a:ext cx="2029968" cy="2194560"/>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400032" y="3657600"/>
            <a:ext cx="2029968"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37192" y="3840480"/>
            <a:ext cx="1737360" cy="365760"/>
          </a:xfrm>
          <a:prstGeom prst="rect">
            <a:avLst/>
          </a:prstGeom>
          <a:noFill/>
        </p:spPr>
        <p:txBody>
          <a:bodyPr wrap="square">
            <a:spAutoFit/>
          </a:bodyPr>
          <a:lstStyle/>
          <a:p>
            <a:pPr algn="l">
              <a:defRPr sz="2000" b="1">
                <a:solidFill>
                  <a:srgbClr val="34D399"/>
                </a:solidFill>
                <a:latin typeface="Segoe UI"/>
              </a:defRPr>
            </a:pPr>
            <a:r>
              <a:t>05</a:t>
            </a:r>
          </a:p>
        </p:txBody>
      </p:sp>
      <p:sp>
        <p:nvSpPr>
          <p:cNvPr id="30" name="TextBox 29"/>
          <p:cNvSpPr txBox="1"/>
          <p:nvPr/>
        </p:nvSpPr>
        <p:spPr>
          <a:xfrm>
            <a:off x="9537192" y="4297680"/>
            <a:ext cx="1737360" cy="320040"/>
          </a:xfrm>
          <a:prstGeom prst="rect">
            <a:avLst/>
          </a:prstGeom>
          <a:noFill/>
        </p:spPr>
        <p:txBody>
          <a:bodyPr wrap="square">
            <a:spAutoFit/>
          </a:bodyPr>
          <a:lstStyle/>
          <a:p>
            <a:pPr algn="l">
              <a:defRPr sz="1400" b="1">
                <a:solidFill>
                  <a:srgbClr val="FFFFFF"/>
                </a:solidFill>
                <a:latin typeface="Segoe UI"/>
              </a:defRPr>
            </a:pPr>
            <a:r>
              <a:t>Eng. Noury</a:t>
            </a:r>
          </a:p>
        </p:txBody>
      </p:sp>
      <p:sp>
        <p:nvSpPr>
          <p:cNvPr id="31" name="TextBox 30"/>
          <p:cNvSpPr txBox="1"/>
          <p:nvPr/>
        </p:nvSpPr>
        <p:spPr>
          <a:xfrm>
            <a:off x="9537192" y="4754880"/>
            <a:ext cx="1737360" cy="822960"/>
          </a:xfrm>
          <a:prstGeom prst="rect">
            <a:avLst/>
          </a:prstGeom>
          <a:noFill/>
        </p:spPr>
        <p:txBody>
          <a:bodyPr wrap="square">
            <a:spAutoFit/>
          </a:bodyPr>
          <a:lstStyle/>
          <a:p>
            <a:pPr algn="l">
              <a:defRPr sz="1100" b="0">
                <a:solidFill>
                  <a:srgbClr val="94A3B8"/>
                </a:solidFill>
                <a:latin typeface="Segoe UI"/>
              </a:defRPr>
            </a:pPr>
            <a:r>
              <a:t>المرحلة 4: الواجهة والتفاعل الحي</a:t>
            </a:r>
          </a:p>
        </p:txBody>
      </p:sp>
      <p:sp>
        <p:nvSpPr>
          <p:cNvPr id="32" name="TextBox 31"/>
          <p:cNvSpPr txBox="1"/>
          <p:nvPr/>
        </p:nvSpPr>
        <p:spPr>
          <a:xfrm>
            <a:off x="731520" y="6126480"/>
            <a:ext cx="10515600" cy="365760"/>
          </a:xfrm>
          <a:prstGeom prst="rect">
            <a:avLst/>
          </a:prstGeom>
          <a:noFill/>
        </p:spPr>
        <p:txBody>
          <a:bodyPr wrap="square">
            <a:spAutoFit/>
          </a:bodyPr>
          <a:lstStyle/>
          <a:p>
            <a:pPr algn="l">
              <a:defRPr sz="1200" b="0">
                <a:solidFill>
                  <a:srgbClr val="94A3B8"/>
                </a:solidFill>
                <a:latin typeface="Segoe UI"/>
              </a:defRPr>
            </a:pPr>
            <a:r>
              <a:t>دليل شامل للمناقشة والمذاكرة الجماعية | توثيق تسلسل المهام من الصفر حتى الإنتاج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PIPELINE OVERVIEW</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المخطط الزمني الشامل: كيف تم ربط المشروع خطوة بخطوة؟</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نظرة عامة توضح التسليم والتسلم بين كل عضو وما أنتجه للزميل التالي</a:t>
            </a:r>
          </a:p>
        </p:txBody>
      </p:sp>
      <p:sp>
        <p:nvSpPr>
          <p:cNvPr id="6" name="Rectangle 5"/>
          <p:cNvSpPr/>
          <p:nvPr/>
        </p:nvSpPr>
        <p:spPr>
          <a:xfrm>
            <a:off x="731520" y="1920240"/>
            <a:ext cx="2468880" cy="38404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2468880" cy="7315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57400"/>
            <a:ext cx="2194560" cy="274320"/>
          </a:xfrm>
          <a:prstGeom prst="rect">
            <a:avLst/>
          </a:prstGeom>
          <a:noFill/>
        </p:spPr>
        <p:txBody>
          <a:bodyPr wrap="square">
            <a:spAutoFit/>
          </a:bodyPr>
          <a:lstStyle/>
          <a:p>
            <a:pPr algn="l">
              <a:defRPr sz="1200" b="1">
                <a:solidFill>
                  <a:srgbClr val="FB923C"/>
                </a:solidFill>
                <a:latin typeface="Segoe UI"/>
              </a:defRPr>
            </a:pPr>
            <a:r>
              <a:t>المرحلة 1</a:t>
            </a:r>
          </a:p>
        </p:txBody>
      </p:sp>
      <p:sp>
        <p:nvSpPr>
          <p:cNvPr id="9" name="TextBox 8"/>
          <p:cNvSpPr txBox="1"/>
          <p:nvPr/>
        </p:nvSpPr>
        <p:spPr>
          <a:xfrm>
            <a:off x="868680" y="2377440"/>
            <a:ext cx="2194560" cy="365760"/>
          </a:xfrm>
          <a:prstGeom prst="rect">
            <a:avLst/>
          </a:prstGeom>
          <a:noFill/>
        </p:spPr>
        <p:txBody>
          <a:bodyPr wrap="square">
            <a:spAutoFit/>
          </a:bodyPr>
          <a:lstStyle/>
          <a:p>
            <a:pPr algn="l">
              <a:defRPr sz="1500" b="1">
                <a:solidFill>
                  <a:srgbClr val="FFFFFF"/>
                </a:solidFill>
                <a:latin typeface="Segoe UI"/>
              </a:defRPr>
            </a:pPr>
            <a:r>
              <a:t>1. هندسة البيانات</a:t>
            </a:r>
          </a:p>
        </p:txBody>
      </p:sp>
      <p:sp>
        <p:nvSpPr>
          <p:cNvPr id="10" name="TextBox 9"/>
          <p:cNvSpPr txBox="1"/>
          <p:nvPr/>
        </p:nvSpPr>
        <p:spPr>
          <a:xfrm>
            <a:off x="868680" y="2788920"/>
            <a:ext cx="2194560" cy="274320"/>
          </a:xfrm>
          <a:prstGeom prst="rect">
            <a:avLst/>
          </a:prstGeom>
          <a:noFill/>
        </p:spPr>
        <p:txBody>
          <a:bodyPr wrap="square">
            <a:spAutoFit/>
          </a:bodyPr>
          <a:lstStyle/>
          <a:p>
            <a:pPr algn="l">
              <a:defRPr sz="1200" b="1">
                <a:solidFill>
                  <a:srgbClr val="FB923C"/>
                </a:solidFill>
                <a:latin typeface="Segoe UI"/>
              </a:defRPr>
            </a:pPr>
            <a:r>
              <a:t>👤 Eng. Assma</a:t>
            </a:r>
          </a:p>
        </p:txBody>
      </p:sp>
      <p:sp>
        <p:nvSpPr>
          <p:cNvPr id="11" name="TextBox 10"/>
          <p:cNvSpPr txBox="1"/>
          <p:nvPr/>
        </p:nvSpPr>
        <p:spPr>
          <a:xfrm>
            <a:off x="868680" y="3154680"/>
            <a:ext cx="2194560" cy="1280160"/>
          </a:xfrm>
          <a:prstGeom prst="rect">
            <a:avLst/>
          </a:prstGeom>
          <a:noFill/>
        </p:spPr>
        <p:txBody>
          <a:bodyPr wrap="square">
            <a:spAutoFit/>
          </a:bodyPr>
          <a:lstStyle/>
          <a:p>
            <a:pPr algn="l">
              <a:defRPr sz="1100" b="0">
                <a:solidFill>
                  <a:srgbClr val="94A3B8"/>
                </a:solidFill>
                <a:latin typeface="Segoe UI"/>
              </a:defRPr>
            </a:pPr>
            <a:r>
              <a:t>توليد 50 موظف + محاكاة المشاكل + تنظيف الإحصائيات</a:t>
            </a:r>
          </a:p>
        </p:txBody>
      </p:sp>
      <p:sp>
        <p:nvSpPr>
          <p:cNvPr id="12" name="Rectangle 11"/>
          <p:cNvSpPr/>
          <p:nvPr/>
        </p:nvSpPr>
        <p:spPr>
          <a:xfrm>
            <a:off x="868680" y="4572000"/>
            <a:ext cx="2194560" cy="1005840"/>
          </a:xfrm>
          <a:prstGeom prst="rect">
            <a:avLst/>
          </a:prstGeom>
          <a:solidFill>
            <a:srgbClr val="131D31"/>
          </a:solidFill>
          <a:ln>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617720"/>
            <a:ext cx="2103120" cy="228600"/>
          </a:xfrm>
          <a:prstGeom prst="rect">
            <a:avLst/>
          </a:prstGeom>
          <a:noFill/>
        </p:spPr>
        <p:txBody>
          <a:bodyPr wrap="square">
            <a:spAutoFit/>
          </a:bodyPr>
          <a:lstStyle/>
          <a:p>
            <a:pPr algn="l">
              <a:defRPr sz="1000" b="1">
                <a:solidFill>
                  <a:srgbClr val="FB923C"/>
                </a:solidFill>
                <a:latin typeface="Segoe UI"/>
              </a:defRPr>
            </a:pPr>
            <a:r>
              <a:t>📦 التسليم الفعلي:</a:t>
            </a:r>
          </a:p>
        </p:txBody>
      </p:sp>
      <p:sp>
        <p:nvSpPr>
          <p:cNvPr id="14" name="TextBox 13"/>
          <p:cNvSpPr txBox="1"/>
          <p:nvPr/>
        </p:nvSpPr>
        <p:spPr>
          <a:xfrm>
            <a:off x="914400" y="4892040"/>
            <a:ext cx="2103120" cy="640080"/>
          </a:xfrm>
          <a:prstGeom prst="rect">
            <a:avLst/>
          </a:prstGeom>
          <a:noFill/>
        </p:spPr>
        <p:txBody>
          <a:bodyPr wrap="square">
            <a:spAutoFit/>
          </a:bodyPr>
          <a:lstStyle/>
          <a:p>
            <a:pPr algn="l">
              <a:defRPr sz="1000" b="1">
                <a:solidFill>
                  <a:srgbClr val="FFFFFF"/>
                </a:solidFill>
                <a:latin typeface="Segoe UI"/>
              </a:defRPr>
            </a:pPr>
            <a:r>
              <a:t>المُخرَج: employees.csv</a:t>
            </a:r>
          </a:p>
        </p:txBody>
      </p:sp>
      <p:sp>
        <p:nvSpPr>
          <p:cNvPr id="15" name="TextBox 14"/>
          <p:cNvSpPr txBox="1"/>
          <p:nvPr/>
        </p:nvSpPr>
        <p:spPr>
          <a:xfrm>
            <a:off x="3246120" y="3474720"/>
            <a:ext cx="228600" cy="457200"/>
          </a:xfrm>
          <a:prstGeom prst="rect">
            <a:avLst/>
          </a:prstGeom>
          <a:noFill/>
        </p:spPr>
        <p:txBody>
          <a:bodyPr wrap="square">
            <a:spAutoFit/>
          </a:bodyPr>
          <a:lstStyle/>
          <a:p>
            <a:pPr algn="l">
              <a:defRPr sz="2400" b="1">
                <a:solidFill>
                  <a:srgbClr val="94A3B8"/>
                </a:solidFill>
                <a:latin typeface="Segoe UI"/>
              </a:defRPr>
            </a:pPr>
            <a:r>
              <a:t>➔</a:t>
            </a:r>
          </a:p>
        </p:txBody>
      </p:sp>
      <p:sp>
        <p:nvSpPr>
          <p:cNvPr id="16" name="Rectangle 15"/>
          <p:cNvSpPr/>
          <p:nvPr/>
        </p:nvSpPr>
        <p:spPr>
          <a:xfrm>
            <a:off x="3456432" y="1920240"/>
            <a:ext cx="2468880" cy="38404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56432" y="1920240"/>
            <a:ext cx="246888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057400"/>
            <a:ext cx="2194560" cy="274320"/>
          </a:xfrm>
          <a:prstGeom prst="rect">
            <a:avLst/>
          </a:prstGeom>
          <a:noFill/>
        </p:spPr>
        <p:txBody>
          <a:bodyPr wrap="square">
            <a:spAutoFit/>
          </a:bodyPr>
          <a:lstStyle/>
          <a:p>
            <a:pPr algn="l">
              <a:defRPr sz="1200" b="1">
                <a:solidFill>
                  <a:srgbClr val="FBBF24"/>
                </a:solidFill>
                <a:latin typeface="Segoe UI"/>
              </a:defRPr>
            </a:pPr>
            <a:r>
              <a:t>المرحلة 2</a:t>
            </a:r>
          </a:p>
        </p:txBody>
      </p:sp>
      <p:sp>
        <p:nvSpPr>
          <p:cNvPr id="19" name="TextBox 18"/>
          <p:cNvSpPr txBox="1"/>
          <p:nvPr/>
        </p:nvSpPr>
        <p:spPr>
          <a:xfrm>
            <a:off x="3593592" y="2377440"/>
            <a:ext cx="2194560" cy="365760"/>
          </a:xfrm>
          <a:prstGeom prst="rect">
            <a:avLst/>
          </a:prstGeom>
          <a:noFill/>
        </p:spPr>
        <p:txBody>
          <a:bodyPr wrap="square">
            <a:spAutoFit/>
          </a:bodyPr>
          <a:lstStyle/>
          <a:p>
            <a:pPr algn="l">
              <a:defRPr sz="1500" b="1">
                <a:solidFill>
                  <a:srgbClr val="FFFFFF"/>
                </a:solidFill>
                <a:latin typeface="Segoe UI"/>
              </a:defRPr>
            </a:pPr>
            <a:r>
              <a:t>2. النمذجة (توازي)</a:t>
            </a:r>
          </a:p>
        </p:txBody>
      </p:sp>
      <p:sp>
        <p:nvSpPr>
          <p:cNvPr id="20" name="TextBox 19"/>
          <p:cNvSpPr txBox="1"/>
          <p:nvPr/>
        </p:nvSpPr>
        <p:spPr>
          <a:xfrm>
            <a:off x="3593592" y="2788920"/>
            <a:ext cx="2194560" cy="274320"/>
          </a:xfrm>
          <a:prstGeom prst="rect">
            <a:avLst/>
          </a:prstGeom>
          <a:noFill/>
        </p:spPr>
        <p:txBody>
          <a:bodyPr wrap="square">
            <a:spAutoFit/>
          </a:bodyPr>
          <a:lstStyle/>
          <a:p>
            <a:pPr algn="l">
              <a:defRPr sz="1200" b="1">
                <a:solidFill>
                  <a:srgbClr val="FBBF24"/>
                </a:solidFill>
                <a:latin typeface="Segoe UI"/>
              </a:defRPr>
            </a:pPr>
            <a:r>
              <a:t>👤 Eng. Abdullah &amp; Shimaa</a:t>
            </a:r>
          </a:p>
        </p:txBody>
      </p:sp>
      <p:sp>
        <p:nvSpPr>
          <p:cNvPr id="21" name="TextBox 20"/>
          <p:cNvSpPr txBox="1"/>
          <p:nvPr/>
        </p:nvSpPr>
        <p:spPr>
          <a:xfrm>
            <a:off x="3593592" y="3154680"/>
            <a:ext cx="2194560" cy="1280160"/>
          </a:xfrm>
          <a:prstGeom prst="rect">
            <a:avLst/>
          </a:prstGeom>
          <a:noFill/>
        </p:spPr>
        <p:txBody>
          <a:bodyPr wrap="square">
            <a:spAutoFit/>
          </a:bodyPr>
          <a:lstStyle/>
          <a:p>
            <a:pPr algn="l">
              <a:defRPr sz="1100" b="0">
                <a:solidFill>
                  <a:srgbClr val="94A3B8"/>
                </a:solidFill>
                <a:latin typeface="Segoe UI"/>
              </a:defRPr>
            </a:pPr>
            <a:r>
              <a:t>عبدالله: Random Forest للأرقام</a:t>
            </a:r>
            <a:br/>
            <a:r>
              <a:t>شيماء: DistilBERT للمشاعر</a:t>
            </a:r>
          </a:p>
        </p:txBody>
      </p:sp>
      <p:sp>
        <p:nvSpPr>
          <p:cNvPr id="22" name="Rectangle 21"/>
          <p:cNvSpPr/>
          <p:nvPr/>
        </p:nvSpPr>
        <p:spPr>
          <a:xfrm>
            <a:off x="3593592" y="4572000"/>
            <a:ext cx="2194560" cy="1005840"/>
          </a:xfrm>
          <a:prstGeom prst="rect">
            <a:avLst/>
          </a:prstGeom>
          <a:solidFill>
            <a:srgbClr val="131D31"/>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9312" y="4617720"/>
            <a:ext cx="2103120" cy="228600"/>
          </a:xfrm>
          <a:prstGeom prst="rect">
            <a:avLst/>
          </a:prstGeom>
          <a:noFill/>
        </p:spPr>
        <p:txBody>
          <a:bodyPr wrap="square">
            <a:spAutoFit/>
          </a:bodyPr>
          <a:lstStyle/>
          <a:p>
            <a:pPr algn="l">
              <a:defRPr sz="1000" b="1">
                <a:solidFill>
                  <a:srgbClr val="FBBF24"/>
                </a:solidFill>
                <a:latin typeface="Segoe UI"/>
              </a:defRPr>
            </a:pPr>
            <a:r>
              <a:t>📦 التسليم الفعلي:</a:t>
            </a:r>
          </a:p>
        </p:txBody>
      </p:sp>
      <p:sp>
        <p:nvSpPr>
          <p:cNvPr id="24" name="TextBox 23"/>
          <p:cNvSpPr txBox="1"/>
          <p:nvPr/>
        </p:nvSpPr>
        <p:spPr>
          <a:xfrm>
            <a:off x="3639312" y="4892040"/>
            <a:ext cx="2103120" cy="640080"/>
          </a:xfrm>
          <a:prstGeom prst="rect">
            <a:avLst/>
          </a:prstGeom>
          <a:noFill/>
        </p:spPr>
        <p:txBody>
          <a:bodyPr wrap="square">
            <a:spAutoFit/>
          </a:bodyPr>
          <a:lstStyle/>
          <a:p>
            <a:pPr algn="l">
              <a:defRPr sz="1000" b="1">
                <a:solidFill>
                  <a:srgbClr val="FFFFFF"/>
                </a:solidFill>
                <a:latin typeface="Segoe UI"/>
              </a:defRPr>
            </a:pPr>
            <a:r>
              <a:t>المُخرَج: workload_model.pkl</a:t>
            </a:r>
            <a:br/>
            <a:r>
              <a:t>+ sentiment.py</a:t>
            </a:r>
          </a:p>
        </p:txBody>
      </p:sp>
      <p:sp>
        <p:nvSpPr>
          <p:cNvPr id="25" name="TextBox 24"/>
          <p:cNvSpPr txBox="1"/>
          <p:nvPr/>
        </p:nvSpPr>
        <p:spPr>
          <a:xfrm>
            <a:off x="5971032" y="3474720"/>
            <a:ext cx="228600" cy="457200"/>
          </a:xfrm>
          <a:prstGeom prst="rect">
            <a:avLst/>
          </a:prstGeom>
          <a:noFill/>
        </p:spPr>
        <p:txBody>
          <a:bodyPr wrap="square">
            <a:spAutoFit/>
          </a:bodyPr>
          <a:lstStyle/>
          <a:p>
            <a:pPr algn="l">
              <a:defRPr sz="2400" b="1">
                <a:solidFill>
                  <a:srgbClr val="94A3B8"/>
                </a:solidFill>
                <a:latin typeface="Segoe UI"/>
              </a:defRPr>
            </a:pPr>
            <a:r>
              <a:t>➔</a:t>
            </a:r>
          </a:p>
        </p:txBody>
      </p:sp>
      <p:sp>
        <p:nvSpPr>
          <p:cNvPr id="26" name="Rectangle 25"/>
          <p:cNvSpPr/>
          <p:nvPr/>
        </p:nvSpPr>
        <p:spPr>
          <a:xfrm>
            <a:off x="6181344" y="1920240"/>
            <a:ext cx="2468880" cy="38404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1344" y="1920240"/>
            <a:ext cx="24688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18504" y="2057400"/>
            <a:ext cx="2194560" cy="274320"/>
          </a:xfrm>
          <a:prstGeom prst="rect">
            <a:avLst/>
          </a:prstGeom>
          <a:noFill/>
        </p:spPr>
        <p:txBody>
          <a:bodyPr wrap="square">
            <a:spAutoFit/>
          </a:bodyPr>
          <a:lstStyle/>
          <a:p>
            <a:pPr algn="l">
              <a:defRPr sz="1200" b="1">
                <a:solidFill>
                  <a:srgbClr val="38BDF8"/>
                </a:solidFill>
                <a:latin typeface="Segoe UI"/>
              </a:defRPr>
            </a:pPr>
            <a:r>
              <a:t>المرحلة 3</a:t>
            </a:r>
          </a:p>
        </p:txBody>
      </p:sp>
      <p:sp>
        <p:nvSpPr>
          <p:cNvPr id="29" name="TextBox 28"/>
          <p:cNvSpPr txBox="1"/>
          <p:nvPr/>
        </p:nvSpPr>
        <p:spPr>
          <a:xfrm>
            <a:off x="6318504" y="2377440"/>
            <a:ext cx="2194560" cy="365760"/>
          </a:xfrm>
          <a:prstGeom prst="rect">
            <a:avLst/>
          </a:prstGeom>
          <a:noFill/>
        </p:spPr>
        <p:txBody>
          <a:bodyPr wrap="square">
            <a:spAutoFit/>
          </a:bodyPr>
          <a:lstStyle/>
          <a:p>
            <a:pPr algn="l">
              <a:defRPr sz="1500" b="1">
                <a:solidFill>
                  <a:srgbClr val="FFFFFF"/>
                </a:solidFill>
                <a:latin typeface="Segoe UI"/>
              </a:defRPr>
            </a:pPr>
            <a:r>
              <a:t>3. الدمج والسيرفر</a:t>
            </a:r>
          </a:p>
        </p:txBody>
      </p:sp>
      <p:sp>
        <p:nvSpPr>
          <p:cNvPr id="30" name="TextBox 29"/>
          <p:cNvSpPr txBox="1"/>
          <p:nvPr/>
        </p:nvSpPr>
        <p:spPr>
          <a:xfrm>
            <a:off x="6318504" y="2788920"/>
            <a:ext cx="2194560" cy="274320"/>
          </a:xfrm>
          <a:prstGeom prst="rect">
            <a:avLst/>
          </a:prstGeom>
          <a:noFill/>
        </p:spPr>
        <p:txBody>
          <a:bodyPr wrap="square">
            <a:spAutoFit/>
          </a:bodyPr>
          <a:lstStyle/>
          <a:p>
            <a:pPr algn="l">
              <a:defRPr sz="1200" b="1">
                <a:solidFill>
                  <a:srgbClr val="38BDF8"/>
                </a:solidFill>
                <a:latin typeface="Segoe UI"/>
              </a:defRPr>
            </a:pPr>
            <a:r>
              <a:t>👤 Eng. Ahmed</a:t>
            </a:r>
          </a:p>
        </p:txBody>
      </p:sp>
      <p:sp>
        <p:nvSpPr>
          <p:cNvPr id="31" name="TextBox 30"/>
          <p:cNvSpPr txBox="1"/>
          <p:nvPr/>
        </p:nvSpPr>
        <p:spPr>
          <a:xfrm>
            <a:off x="6318504" y="3154680"/>
            <a:ext cx="2194560" cy="1280160"/>
          </a:xfrm>
          <a:prstGeom prst="rect">
            <a:avLst/>
          </a:prstGeom>
          <a:noFill/>
        </p:spPr>
        <p:txBody>
          <a:bodyPr wrap="square">
            <a:spAutoFit/>
          </a:bodyPr>
          <a:lstStyle/>
          <a:p>
            <a:pPr algn="l">
              <a:defRPr sz="1100" b="0">
                <a:solidFill>
                  <a:srgbClr val="94A3B8"/>
                </a:solidFill>
                <a:latin typeface="Segoe UI"/>
              </a:defRPr>
            </a:pPr>
            <a:r>
              <a:t>FastAPI + PostgreSQL + الدمج الهجين 60/40 + SHAP</a:t>
            </a:r>
          </a:p>
        </p:txBody>
      </p:sp>
      <p:sp>
        <p:nvSpPr>
          <p:cNvPr id="32" name="Rectangle 31"/>
          <p:cNvSpPr/>
          <p:nvPr/>
        </p:nvSpPr>
        <p:spPr>
          <a:xfrm>
            <a:off x="6318504" y="4572000"/>
            <a:ext cx="2194560" cy="10058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64224" y="4617720"/>
            <a:ext cx="2103120" cy="228600"/>
          </a:xfrm>
          <a:prstGeom prst="rect">
            <a:avLst/>
          </a:prstGeom>
          <a:noFill/>
        </p:spPr>
        <p:txBody>
          <a:bodyPr wrap="square">
            <a:spAutoFit/>
          </a:bodyPr>
          <a:lstStyle/>
          <a:p>
            <a:pPr algn="l">
              <a:defRPr sz="1000" b="1">
                <a:solidFill>
                  <a:srgbClr val="38BDF8"/>
                </a:solidFill>
                <a:latin typeface="Segoe UI"/>
              </a:defRPr>
            </a:pPr>
            <a:r>
              <a:t>📦 التسليم الفعلي:</a:t>
            </a:r>
          </a:p>
        </p:txBody>
      </p:sp>
      <p:sp>
        <p:nvSpPr>
          <p:cNvPr id="34" name="TextBox 33"/>
          <p:cNvSpPr txBox="1"/>
          <p:nvPr/>
        </p:nvSpPr>
        <p:spPr>
          <a:xfrm>
            <a:off x="6364224" y="4892040"/>
            <a:ext cx="2103120" cy="640080"/>
          </a:xfrm>
          <a:prstGeom prst="rect">
            <a:avLst/>
          </a:prstGeom>
          <a:noFill/>
        </p:spPr>
        <p:txBody>
          <a:bodyPr wrap="square">
            <a:spAutoFit/>
          </a:bodyPr>
          <a:lstStyle/>
          <a:p>
            <a:pPr algn="l">
              <a:defRPr sz="1000" b="1">
                <a:solidFill>
                  <a:srgbClr val="FFFFFF"/>
                </a:solidFill>
                <a:latin typeface="Segoe UI"/>
              </a:defRPr>
            </a:pPr>
            <a:r>
              <a:t>المُخرَج: 7 REST API Endpoints</a:t>
            </a:r>
          </a:p>
        </p:txBody>
      </p:sp>
      <p:sp>
        <p:nvSpPr>
          <p:cNvPr id="35" name="TextBox 34"/>
          <p:cNvSpPr txBox="1"/>
          <p:nvPr/>
        </p:nvSpPr>
        <p:spPr>
          <a:xfrm>
            <a:off x="8695944" y="3474720"/>
            <a:ext cx="228600" cy="457200"/>
          </a:xfrm>
          <a:prstGeom prst="rect">
            <a:avLst/>
          </a:prstGeom>
          <a:noFill/>
        </p:spPr>
        <p:txBody>
          <a:bodyPr wrap="square">
            <a:spAutoFit/>
          </a:bodyPr>
          <a:lstStyle/>
          <a:p>
            <a:pPr algn="l">
              <a:defRPr sz="2400" b="1">
                <a:solidFill>
                  <a:srgbClr val="94A3B8"/>
                </a:solidFill>
                <a:latin typeface="Segoe UI"/>
              </a:defRPr>
            </a:pPr>
            <a:r>
              <a:t>➔</a:t>
            </a:r>
          </a:p>
        </p:txBody>
      </p:sp>
      <p:sp>
        <p:nvSpPr>
          <p:cNvPr id="36" name="Rectangle 35"/>
          <p:cNvSpPr/>
          <p:nvPr/>
        </p:nvSpPr>
        <p:spPr>
          <a:xfrm>
            <a:off x="8906256" y="1920240"/>
            <a:ext cx="2468880" cy="38404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06256" y="1920240"/>
            <a:ext cx="246888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43416" y="2057400"/>
            <a:ext cx="2194560" cy="274320"/>
          </a:xfrm>
          <a:prstGeom prst="rect">
            <a:avLst/>
          </a:prstGeom>
          <a:noFill/>
        </p:spPr>
        <p:txBody>
          <a:bodyPr wrap="square">
            <a:spAutoFit/>
          </a:bodyPr>
          <a:lstStyle/>
          <a:p>
            <a:pPr algn="l">
              <a:defRPr sz="1200" b="1">
                <a:solidFill>
                  <a:srgbClr val="34D399"/>
                </a:solidFill>
                <a:latin typeface="Segoe UI"/>
              </a:defRPr>
            </a:pPr>
            <a:r>
              <a:t>المرحلة 4</a:t>
            </a:r>
          </a:p>
        </p:txBody>
      </p:sp>
      <p:sp>
        <p:nvSpPr>
          <p:cNvPr id="39" name="TextBox 38"/>
          <p:cNvSpPr txBox="1"/>
          <p:nvPr/>
        </p:nvSpPr>
        <p:spPr>
          <a:xfrm>
            <a:off x="9043416" y="2377440"/>
            <a:ext cx="2194560" cy="365760"/>
          </a:xfrm>
          <a:prstGeom prst="rect">
            <a:avLst/>
          </a:prstGeom>
          <a:noFill/>
        </p:spPr>
        <p:txBody>
          <a:bodyPr wrap="square">
            <a:spAutoFit/>
          </a:bodyPr>
          <a:lstStyle/>
          <a:p>
            <a:pPr algn="l">
              <a:defRPr sz="1500" b="1">
                <a:solidFill>
                  <a:srgbClr val="FFFFFF"/>
                </a:solidFill>
                <a:latin typeface="Segoe UI"/>
              </a:defRPr>
            </a:pPr>
            <a:r>
              <a:t>4. الواجهات التفاعلية</a:t>
            </a:r>
          </a:p>
        </p:txBody>
      </p:sp>
      <p:sp>
        <p:nvSpPr>
          <p:cNvPr id="40" name="TextBox 39"/>
          <p:cNvSpPr txBox="1"/>
          <p:nvPr/>
        </p:nvSpPr>
        <p:spPr>
          <a:xfrm>
            <a:off x="9043416" y="2788920"/>
            <a:ext cx="2194560" cy="274320"/>
          </a:xfrm>
          <a:prstGeom prst="rect">
            <a:avLst/>
          </a:prstGeom>
          <a:noFill/>
        </p:spPr>
        <p:txBody>
          <a:bodyPr wrap="square">
            <a:spAutoFit/>
          </a:bodyPr>
          <a:lstStyle/>
          <a:p>
            <a:pPr algn="l">
              <a:defRPr sz="1200" b="1">
                <a:solidFill>
                  <a:srgbClr val="34D399"/>
                </a:solidFill>
                <a:latin typeface="Segoe UI"/>
              </a:defRPr>
            </a:pPr>
            <a:r>
              <a:t>👤 Eng. Noury</a:t>
            </a:r>
          </a:p>
        </p:txBody>
      </p:sp>
      <p:sp>
        <p:nvSpPr>
          <p:cNvPr id="41" name="TextBox 40"/>
          <p:cNvSpPr txBox="1"/>
          <p:nvPr/>
        </p:nvSpPr>
        <p:spPr>
          <a:xfrm>
            <a:off x="9043416" y="3154680"/>
            <a:ext cx="2194560" cy="1280160"/>
          </a:xfrm>
          <a:prstGeom prst="rect">
            <a:avLst/>
          </a:prstGeom>
          <a:noFill/>
        </p:spPr>
        <p:txBody>
          <a:bodyPr wrap="square">
            <a:spAutoFit/>
          </a:bodyPr>
          <a:lstStyle/>
          <a:p>
            <a:pPr algn="l">
              <a:defRPr sz="1100" b="0">
                <a:solidFill>
                  <a:srgbClr val="94A3B8"/>
                </a:solidFill>
                <a:latin typeface="Segoe UI"/>
              </a:defRPr>
            </a:pPr>
            <a:r>
              <a:t>بوابة الموظف لإعادة التقييم + لوحة تحكم الإدارة + Chart.js</a:t>
            </a:r>
          </a:p>
        </p:txBody>
      </p:sp>
      <p:sp>
        <p:nvSpPr>
          <p:cNvPr id="42" name="Rectangle 41"/>
          <p:cNvSpPr/>
          <p:nvPr/>
        </p:nvSpPr>
        <p:spPr>
          <a:xfrm>
            <a:off x="9043416" y="4572000"/>
            <a:ext cx="2194560" cy="1005840"/>
          </a:xfrm>
          <a:prstGeom prst="rect">
            <a:avLst/>
          </a:prstGeom>
          <a:solidFill>
            <a:srgbClr val="131D3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89136" y="4617720"/>
            <a:ext cx="2103120" cy="228600"/>
          </a:xfrm>
          <a:prstGeom prst="rect">
            <a:avLst/>
          </a:prstGeom>
          <a:noFill/>
        </p:spPr>
        <p:txBody>
          <a:bodyPr wrap="square">
            <a:spAutoFit/>
          </a:bodyPr>
          <a:lstStyle/>
          <a:p>
            <a:pPr algn="l">
              <a:defRPr sz="1000" b="1">
                <a:solidFill>
                  <a:srgbClr val="34D399"/>
                </a:solidFill>
                <a:latin typeface="Segoe UI"/>
              </a:defRPr>
            </a:pPr>
            <a:r>
              <a:t>📦 التسليم الفعلي:</a:t>
            </a:r>
          </a:p>
        </p:txBody>
      </p:sp>
      <p:sp>
        <p:nvSpPr>
          <p:cNvPr id="44" name="TextBox 43"/>
          <p:cNvSpPr txBox="1"/>
          <p:nvPr/>
        </p:nvSpPr>
        <p:spPr>
          <a:xfrm>
            <a:off x="9089136" y="4892040"/>
            <a:ext cx="2103120" cy="640080"/>
          </a:xfrm>
          <a:prstGeom prst="rect">
            <a:avLst/>
          </a:prstGeom>
          <a:noFill/>
        </p:spPr>
        <p:txBody>
          <a:bodyPr wrap="square">
            <a:spAutoFit/>
          </a:bodyPr>
          <a:lstStyle/>
          <a:p>
            <a:pPr algn="l">
              <a:defRPr sz="1000" b="1">
                <a:solidFill>
                  <a:srgbClr val="FFFFFF"/>
                </a:solidFill>
                <a:latin typeface="Segoe UI"/>
              </a:defRPr>
            </a:pPr>
            <a:r>
              <a:t>المُخرَج: Dashboard تفاعلي بالكامل</a:t>
            </a:r>
          </a:p>
        </p:txBody>
      </p:sp>
      <p:sp>
        <p:nvSpPr>
          <p:cNvPr id="45" name="TextBox 44"/>
          <p:cNvSpPr txBox="1"/>
          <p:nvPr/>
        </p:nvSpPr>
        <p:spPr>
          <a:xfrm>
            <a:off x="731520" y="6035040"/>
            <a:ext cx="10698480" cy="365760"/>
          </a:xfrm>
          <a:prstGeom prst="rect">
            <a:avLst/>
          </a:prstGeom>
          <a:noFill/>
        </p:spPr>
        <p:txBody>
          <a:bodyPr wrap="square">
            <a:spAutoFit/>
          </a:bodyPr>
          <a:lstStyle/>
          <a:p>
            <a:pPr algn="l">
              <a:defRPr sz="1200" b="1">
                <a:solidFill>
                  <a:srgbClr val="FFFFFF"/>
                </a:solidFill>
                <a:latin typeface="Segoe UI"/>
              </a:defRPr>
            </a:pPr>
            <a:r>
              <a:t>💡 ملاحظة جوهرية: م. عبد الله وم. شيماء عملا بالتوازي على نفس ملف البيانات الذي أعدته م. أسماء، وسلما نتائجهما لم. أحمد في نفس التوقيت.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PHASE 1 • THE FOUNDATION</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المرحلة الأولى: م. أسماء (Data Engineering &amp; Generation)</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البداية الفعلية للمشروع: بناء وتنظيف البيانات الواقعية لـ 50 موظفاً</a:t>
            </a:r>
          </a:p>
        </p:txBody>
      </p:sp>
      <p:sp>
        <p:nvSpPr>
          <p:cNvPr id="6" name="Rectangle 5"/>
          <p:cNvSpPr/>
          <p:nvPr/>
        </p:nvSpPr>
        <p:spPr>
          <a:xfrm>
            <a:off x="731520" y="1920240"/>
            <a:ext cx="512064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5120640" cy="7315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754880" cy="365760"/>
          </a:xfrm>
          <a:prstGeom prst="rect">
            <a:avLst/>
          </a:prstGeom>
          <a:noFill/>
        </p:spPr>
        <p:txBody>
          <a:bodyPr wrap="square">
            <a:spAutoFit/>
          </a:bodyPr>
          <a:lstStyle/>
          <a:p>
            <a:pPr algn="l">
              <a:defRPr sz="1600" b="1">
                <a:solidFill>
                  <a:srgbClr val="FB923C"/>
                </a:solidFill>
                <a:latin typeface="Segoe UI"/>
              </a:defRPr>
            </a:pPr>
            <a:r>
              <a:t>ليه بدأنا من هنا؟ وماذا نفذت م. أسماء؟</a:t>
            </a:r>
          </a:p>
        </p:txBody>
      </p:sp>
      <p:sp>
        <p:nvSpPr>
          <p:cNvPr id="9" name="TextBox 8"/>
          <p:cNvSpPr txBox="1"/>
          <p:nvPr/>
        </p:nvSpPr>
        <p:spPr>
          <a:xfrm>
            <a:off x="914400" y="2560320"/>
            <a:ext cx="4754880" cy="3200400"/>
          </a:xfrm>
          <a:prstGeom prst="rect">
            <a:avLst/>
          </a:prstGeom>
          <a:noFill/>
        </p:spPr>
        <p:txBody>
          <a:bodyPr wrap="square">
            <a:spAutoFit/>
          </a:bodyPr>
          <a:lstStyle/>
          <a:p>
            <a:pPr algn="l">
              <a:defRPr sz="1200" b="0">
                <a:solidFill>
                  <a:srgbClr val="FFFFFF"/>
                </a:solidFill>
                <a:latin typeface="Segoe UI"/>
              </a:defRPr>
            </a:pPr>
            <a:r>
              <a:t>1. لا يمكن تدريب ذكاء اصطناعي أو بناء شاشات بدون قاعدة بيانات واقعية.</a:t>
            </a:r>
            <a:br/>
            <a:br/>
            <a:r>
              <a:t>2. كتبت م. أسماء كود data/generate_data.py لتوليد بيانات 50 موظفاً:</a:t>
            </a:r>
            <a:br/>
            <a:r>
              <a:t>   • ضبط ساعات العمل الطبيعية (40h) والإضافية (Overtime).</a:t>
            </a:r>
            <a:br/>
            <a:r>
              <a:t>   • ربط عدد الاجتماعات (Meetings) والإيميلات بنسب الإرهاق الواقعية.</a:t>
            </a:r>
            <a:br/>
            <a:r>
              <a:t>   • توليد نصوص تعليقات واقعية بالإنجليزية (Feedbacks) تعكس حالة الضغط أو الرضا.</a:t>
            </a:r>
            <a:br/>
            <a:br/>
            <a:r>
              <a:t>3. محاكاة تحديات العالم الحقيقي (Noise &amp; Cleaning):</a:t>
            </a:r>
            <a:br/>
            <a:r>
              <a:t>   • إضافة قيم شاذة (Outliers) مثل ساعات عمل مبالغ فيها.</a:t>
            </a:r>
            <a:br/>
            <a:r>
              <a:t>   • تنظيف البيانات وضمان خلوها من القيم المفقودة (Imputation).</a:t>
            </a:r>
          </a:p>
        </p:txBody>
      </p:sp>
      <p:sp>
        <p:nvSpPr>
          <p:cNvPr id="10" name="Rectangle 9"/>
          <p:cNvSpPr/>
          <p:nvPr/>
        </p:nvSpPr>
        <p:spPr>
          <a:xfrm>
            <a:off x="6126480" y="1920240"/>
            <a:ext cx="530352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920240"/>
            <a:ext cx="53035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103120"/>
            <a:ext cx="4937760" cy="365760"/>
          </a:xfrm>
          <a:prstGeom prst="rect">
            <a:avLst/>
          </a:prstGeom>
          <a:noFill/>
        </p:spPr>
        <p:txBody>
          <a:bodyPr wrap="square">
            <a:spAutoFit/>
          </a:bodyPr>
          <a:lstStyle/>
          <a:p>
            <a:pPr algn="l">
              <a:defRPr sz="1600" b="1">
                <a:solidFill>
                  <a:srgbClr val="38BDF8"/>
                </a:solidFill>
                <a:latin typeface="Segoe UI"/>
              </a:defRPr>
            </a:pPr>
            <a:r>
              <a:t>📦 ماذا أنتجت؟ ولمن سلّمت العمل؟</a:t>
            </a:r>
          </a:p>
        </p:txBody>
      </p:sp>
      <p:sp>
        <p:nvSpPr>
          <p:cNvPr id="13" name="TextBox 12"/>
          <p:cNvSpPr txBox="1"/>
          <p:nvPr/>
        </p:nvSpPr>
        <p:spPr>
          <a:xfrm>
            <a:off x="6309360" y="2560320"/>
            <a:ext cx="4937760" cy="3200400"/>
          </a:xfrm>
          <a:prstGeom prst="rect">
            <a:avLst/>
          </a:prstGeom>
          <a:noFill/>
        </p:spPr>
        <p:txBody>
          <a:bodyPr wrap="square">
            <a:spAutoFit/>
          </a:bodyPr>
          <a:lstStyle/>
          <a:p>
            <a:pPr algn="l">
              <a:defRPr sz="1200" b="0">
                <a:solidFill>
                  <a:srgbClr val="FFFFFF"/>
                </a:solidFill>
                <a:latin typeface="Segoe UI"/>
              </a:defRPr>
            </a:pPr>
            <a:r>
              <a:t>📄 المُخرَج الأساسي: ملف data/employees.csv (جاهز ونظيف 100%)</a:t>
            </a:r>
            <a:br/>
            <a:br/>
            <a:r>
              <a:t>🤝 تسليم المهام (Handover Matrix):</a:t>
            </a:r>
            <a:br/>
            <a:r>
              <a:t>• سلّمت الأعمدة الرقمية (Hours, Overtime, Projects...) إلى:</a:t>
            </a:r>
            <a:br/>
            <a:r>
              <a:t>  ⬅️ م. عبد الله (لبناء موديل التنبؤ Machine Learning).</a:t>
            </a:r>
            <a:br/>
            <a:br/>
            <a:r>
              <a:t>• سلّمت عمود النصوص والآراء (Employee Feedback) إلى:</a:t>
            </a:r>
            <a:br/>
            <a:r>
              <a:t>  ⬅️ م. شيماء (لبناء نموذج تحليل المشاعر NLP).</a:t>
            </a:r>
            <a:br/>
            <a:br/>
            <a:r>
              <a:t>• سلّمت الملف بالكامل بجميع بيانات الموظفين إلى:</a:t>
            </a:r>
            <a:br/>
            <a:r>
              <a:t>  ⬅️ م. أحمد (لتغذية قاعدة البيانات PostgreSQL تلقائياً عند التشغيل).</a:t>
            </a:r>
          </a:p>
        </p:txBody>
      </p:sp>
      <p:sp>
        <p:nvSpPr>
          <p:cNvPr id="14" name="TextBox 13"/>
          <p:cNvSpPr txBox="1"/>
          <p:nvPr/>
        </p:nvSpPr>
        <p:spPr>
          <a:xfrm>
            <a:off x="731520" y="6035040"/>
            <a:ext cx="10698480" cy="365760"/>
          </a:xfrm>
          <a:prstGeom prst="rect">
            <a:avLst/>
          </a:prstGeom>
          <a:noFill/>
        </p:spPr>
        <p:txBody>
          <a:bodyPr wrap="square">
            <a:spAutoFit/>
          </a:bodyPr>
          <a:lstStyle/>
          <a:p>
            <a:pPr algn="l">
              <a:defRPr sz="1200" b="1">
                <a:solidFill>
                  <a:srgbClr val="FBBF24"/>
                </a:solidFill>
                <a:latin typeface="Segoe UI"/>
              </a:defRPr>
            </a:pPr>
            <a:r>
              <a:t>🔑 سؤال الدكتور المتوقع: لو سأل 'ليه ما استخدمتوش داتا جاهزة من Kaggle؟' الإجابة: لأننا أردنا تحكم كامل في السيناريوهات ودمج النصوص مع الأرقام بشكل متطابق.</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PHASE 2-A • NUMERICAL ML</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المرحلة الثانية (أ): م. عبد الله (Machine Learning Engine)</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تدريب نموذج Random Forest على البيانات الرقمية وتصدير الملف النهائي</a:t>
            </a:r>
          </a:p>
        </p:txBody>
      </p:sp>
      <p:sp>
        <p:nvSpPr>
          <p:cNvPr id="6" name="Rectangle 5"/>
          <p:cNvSpPr/>
          <p:nvPr/>
        </p:nvSpPr>
        <p:spPr>
          <a:xfrm>
            <a:off x="731520" y="1920240"/>
            <a:ext cx="512064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512064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754880" cy="365760"/>
          </a:xfrm>
          <a:prstGeom prst="rect">
            <a:avLst/>
          </a:prstGeom>
          <a:noFill/>
        </p:spPr>
        <p:txBody>
          <a:bodyPr wrap="square">
            <a:spAutoFit/>
          </a:bodyPr>
          <a:lstStyle/>
          <a:p>
            <a:pPr algn="l">
              <a:defRPr sz="1600" b="1">
                <a:solidFill>
                  <a:srgbClr val="FBBF24"/>
                </a:solidFill>
                <a:latin typeface="Segoe UI"/>
              </a:defRPr>
            </a:pPr>
            <a:r>
              <a:t>ماذا استلم وماذا فعل م. عبد الله؟</a:t>
            </a:r>
          </a:p>
        </p:txBody>
      </p:sp>
      <p:sp>
        <p:nvSpPr>
          <p:cNvPr id="9" name="TextBox 8"/>
          <p:cNvSpPr txBox="1"/>
          <p:nvPr/>
        </p:nvSpPr>
        <p:spPr>
          <a:xfrm>
            <a:off x="914400" y="2560320"/>
            <a:ext cx="4754880" cy="3200400"/>
          </a:xfrm>
          <a:prstGeom prst="rect">
            <a:avLst/>
          </a:prstGeom>
          <a:noFill/>
        </p:spPr>
        <p:txBody>
          <a:bodyPr wrap="square">
            <a:spAutoFit/>
          </a:bodyPr>
          <a:lstStyle/>
          <a:p>
            <a:pPr algn="l">
              <a:defRPr sz="1200" b="0">
                <a:solidFill>
                  <a:srgbClr val="FFFFFF"/>
                </a:solidFill>
                <a:latin typeface="Segoe UI"/>
              </a:defRPr>
            </a:pPr>
            <a:r>
              <a:t>1. المدخلات المستلمة:</a:t>
            </a:r>
            <a:br/>
            <a:r>
              <a:t>   • استلم ملف data/employees.csv من م. أسماء.</a:t>
            </a:r>
            <a:br/>
            <a:br/>
            <a:r>
              <a:t>2. المعالجة والنمذجة الرياضية (train_model.py):</a:t>
            </a:r>
            <a:br/>
            <a:r>
              <a:t>   • فصل الخصائص (Hours, Overtime, Projects, Meetings, Emails).</a:t>
            </a:r>
            <a:br/>
            <a:r>
              <a:t>   • تطبيق StandardScaler لتوحيد المقاييس الرقمية.</a:t>
            </a:r>
            <a:br/>
            <a:r>
              <a:t>   • تدريب ومقارنة 3 نماذج ذكاء اصطناعي:</a:t>
            </a:r>
            <a:br/>
            <a:r>
              <a:t>     - Logistic Regression (دقة 76%)</a:t>
            </a:r>
            <a:br/>
            <a:r>
              <a:t>     - Decision Tree (دقة 84% مع خطر Overfitting)</a:t>
            </a:r>
            <a:br/>
            <a:r>
              <a:t>     - Random Forest Classifier (فاز بأعلى دقة 90%+).</a:t>
            </a:r>
            <a:br/>
            <a:br/>
            <a:r>
              <a:t>3. استخراج أهمية العوامل (Feature Importance):</a:t>
            </a:r>
            <a:br/>
            <a:r>
              <a:t>   • Overtime و Working Hours كانا العاملين الأكثر حساسية للتنبؤ بالإجهاد.</a:t>
            </a:r>
          </a:p>
        </p:txBody>
      </p:sp>
      <p:sp>
        <p:nvSpPr>
          <p:cNvPr id="10" name="Rectangle 9"/>
          <p:cNvSpPr/>
          <p:nvPr/>
        </p:nvSpPr>
        <p:spPr>
          <a:xfrm>
            <a:off x="6126480" y="1920240"/>
            <a:ext cx="530352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920240"/>
            <a:ext cx="53035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103120"/>
            <a:ext cx="4937760" cy="365760"/>
          </a:xfrm>
          <a:prstGeom prst="rect">
            <a:avLst/>
          </a:prstGeom>
          <a:noFill/>
        </p:spPr>
        <p:txBody>
          <a:bodyPr wrap="square">
            <a:spAutoFit/>
          </a:bodyPr>
          <a:lstStyle/>
          <a:p>
            <a:pPr algn="l">
              <a:defRPr sz="1600" b="1">
                <a:solidFill>
                  <a:srgbClr val="38BDF8"/>
                </a:solidFill>
                <a:latin typeface="Segoe UI"/>
              </a:defRPr>
            </a:pPr>
            <a:r>
              <a:t>📦 التسليم الفعلي: ماذا قدّم للفريق؟</a:t>
            </a:r>
          </a:p>
        </p:txBody>
      </p:sp>
      <p:sp>
        <p:nvSpPr>
          <p:cNvPr id="13" name="TextBox 12"/>
          <p:cNvSpPr txBox="1"/>
          <p:nvPr/>
        </p:nvSpPr>
        <p:spPr>
          <a:xfrm>
            <a:off x="6309360" y="2560320"/>
            <a:ext cx="4937760" cy="3200400"/>
          </a:xfrm>
          <a:prstGeom prst="rect">
            <a:avLst/>
          </a:prstGeom>
          <a:noFill/>
        </p:spPr>
        <p:txBody>
          <a:bodyPr wrap="square">
            <a:spAutoFit/>
          </a:bodyPr>
          <a:lstStyle/>
          <a:p>
            <a:pPr algn="l">
              <a:defRPr sz="1200" b="0">
                <a:solidFill>
                  <a:srgbClr val="FFFFFF"/>
                </a:solidFill>
                <a:latin typeface="Segoe UI"/>
              </a:defRPr>
            </a:pPr>
            <a:r>
              <a:t>📦 المُخرَج الأساسي (Model Artifact):</a:t>
            </a:r>
            <a:br/>
            <a:r>
              <a:t>   • حفظ النموذج المكتمل في ملف: models/workload_model.pkl</a:t>
            </a:r>
            <a:br/>
            <a:r>
              <a:t>   • حفظ مقياس المعايرة في: models/scaler.pkl</a:t>
            </a:r>
            <a:br/>
            <a:br/>
            <a:r>
              <a:t>🤝 لمن سلّم شغله؟</a:t>
            </a:r>
            <a:br/>
            <a:r>
              <a:t>   • سلّم ملف الـ .pkl مباشرة إلى ⬅️ م. أحمد.</a:t>
            </a:r>
            <a:br/>
            <a:br/>
            <a:r>
              <a:t>🎯 فائدة التسليم لم. أحمد:</a:t>
            </a:r>
            <a:br/>
            <a:r>
              <a:t>   • م. أحمد أخذ النموذج وقام بعمل Joblib Load له عند إقلاع السيرفر</a:t>
            </a:r>
            <a:br/>
            <a:r>
              <a:t>   • مما مكّن الباك إند من التنبؤ بضغط أي موظف في أجزاء من الثانية (Sub-millisecond) دون الحاجة لإعادة تدريب الموديل كل مرة.</a:t>
            </a:r>
          </a:p>
        </p:txBody>
      </p:sp>
      <p:sp>
        <p:nvSpPr>
          <p:cNvPr id="14" name="TextBox 13"/>
          <p:cNvSpPr txBox="1"/>
          <p:nvPr/>
        </p:nvSpPr>
        <p:spPr>
          <a:xfrm>
            <a:off x="731520" y="6035040"/>
            <a:ext cx="10698480" cy="365760"/>
          </a:xfrm>
          <a:prstGeom prst="rect">
            <a:avLst/>
          </a:prstGeom>
          <a:noFill/>
        </p:spPr>
        <p:txBody>
          <a:bodyPr wrap="square">
            <a:spAutoFit/>
          </a:bodyPr>
          <a:lstStyle/>
          <a:p>
            <a:pPr algn="l">
              <a:defRPr sz="1200" b="1">
                <a:solidFill>
                  <a:srgbClr val="FBBF24"/>
                </a:solidFill>
                <a:latin typeface="Segoe UI"/>
              </a:defRPr>
            </a:pPr>
            <a:r>
              <a:t>🔑 سؤال الدكتور المتوقع: ليه Random Forest بالذات؟ الإجابة: لأنه Ensemble Learning يدمج أشجار متعددة ويمنع الـ Overfitting ويعطي أداءً ممتازاً على الداتا المنظمة (Tabular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PHASE 2-B • NLP INTELLIGENCE</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المرحلة الثانية (ب): م. شيماء (Sentiment Analysis &amp; DistilBERT)</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بناء عقل معالجة النصوص الطبيعية لتحليل مشاعر الموظف وتحديد درجة الخطر</a:t>
            </a:r>
          </a:p>
        </p:txBody>
      </p:sp>
      <p:sp>
        <p:nvSpPr>
          <p:cNvPr id="6" name="Rectangle 5"/>
          <p:cNvSpPr/>
          <p:nvPr/>
        </p:nvSpPr>
        <p:spPr>
          <a:xfrm>
            <a:off x="731520" y="1920240"/>
            <a:ext cx="512064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512064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754880" cy="365760"/>
          </a:xfrm>
          <a:prstGeom prst="rect">
            <a:avLst/>
          </a:prstGeom>
          <a:noFill/>
        </p:spPr>
        <p:txBody>
          <a:bodyPr wrap="square">
            <a:spAutoFit/>
          </a:bodyPr>
          <a:lstStyle/>
          <a:p>
            <a:pPr algn="l">
              <a:defRPr sz="1600" b="1">
                <a:solidFill>
                  <a:srgbClr val="C084FC"/>
                </a:solidFill>
                <a:latin typeface="Segoe UI"/>
              </a:defRPr>
            </a:pPr>
            <a:r>
              <a:t>ماذا استلمت وماذا صنعت م. شيماء؟</a:t>
            </a:r>
          </a:p>
        </p:txBody>
      </p:sp>
      <p:sp>
        <p:nvSpPr>
          <p:cNvPr id="9" name="TextBox 8"/>
          <p:cNvSpPr txBox="1"/>
          <p:nvPr/>
        </p:nvSpPr>
        <p:spPr>
          <a:xfrm>
            <a:off x="914400" y="2560320"/>
            <a:ext cx="4754880" cy="3200400"/>
          </a:xfrm>
          <a:prstGeom prst="rect">
            <a:avLst/>
          </a:prstGeom>
          <a:noFill/>
        </p:spPr>
        <p:txBody>
          <a:bodyPr wrap="square">
            <a:spAutoFit/>
          </a:bodyPr>
          <a:lstStyle/>
          <a:p>
            <a:pPr algn="l">
              <a:defRPr sz="1200" b="0">
                <a:solidFill>
                  <a:srgbClr val="FFFFFF"/>
                </a:solidFill>
                <a:latin typeface="Segoe UI"/>
              </a:defRPr>
            </a:pPr>
            <a:r>
              <a:t>1. المدخلات المستلمة:</a:t>
            </a:r>
            <a:br/>
            <a:r>
              <a:t>   • استلمت نصوص تعليقات الموظفين (Feedbacks) من م. أسماء.</a:t>
            </a:r>
            <a:br/>
            <a:br/>
            <a:r>
              <a:t>2. اختيار وبناء المعمارية اللغوية (backend/sentiment.py):</a:t>
            </a:r>
            <a:br/>
            <a:r>
              <a:t>   • استعانت بنموذج المحولات المتطور DistilBERT من HuggingFace.</a:t>
            </a:r>
            <a:br/>
            <a:r>
              <a:t>   • تميز DistilBERT بأنه أخف بـ 40% وأسرع بـ 60% من BERT الأصلي مع الحفاظ على 97% من دقته الفائقة.</a:t>
            </a:r>
            <a:br/>
            <a:br/>
            <a:r>
              <a:t>3. ابتكار معادلة خطر المشاعر (Sentiment Risk Formula):</a:t>
            </a:r>
            <a:br/>
            <a:r>
              <a:t>   • إذا كان الشعور سلبياً (NEGATIVE): الخطر = Confidence * 100</a:t>
            </a:r>
            <a:br/>
            <a:r>
              <a:t>   • إذا كان إيجابياً (POSITIVE): الخطر = (1 - Confidence) * 50</a:t>
            </a:r>
            <a:br/>
            <a:r>
              <a:t>   • إذا كان محايداً (NEUTRAL): الخطر = 30% ثابتة.</a:t>
            </a:r>
          </a:p>
        </p:txBody>
      </p:sp>
      <p:sp>
        <p:nvSpPr>
          <p:cNvPr id="10" name="Rectangle 9"/>
          <p:cNvSpPr/>
          <p:nvPr/>
        </p:nvSpPr>
        <p:spPr>
          <a:xfrm>
            <a:off x="6126480" y="1920240"/>
            <a:ext cx="530352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920240"/>
            <a:ext cx="53035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103120"/>
            <a:ext cx="4937760" cy="365760"/>
          </a:xfrm>
          <a:prstGeom prst="rect">
            <a:avLst/>
          </a:prstGeom>
          <a:noFill/>
        </p:spPr>
        <p:txBody>
          <a:bodyPr wrap="square">
            <a:spAutoFit/>
          </a:bodyPr>
          <a:lstStyle/>
          <a:p>
            <a:pPr algn="l">
              <a:defRPr sz="1600" b="1">
                <a:solidFill>
                  <a:srgbClr val="38BDF8"/>
                </a:solidFill>
                <a:latin typeface="Segoe UI"/>
              </a:defRPr>
            </a:pPr>
            <a:r>
              <a:t>📦 التسليم الفعلي: ماذا قدّمت للفريق؟</a:t>
            </a:r>
          </a:p>
        </p:txBody>
      </p:sp>
      <p:sp>
        <p:nvSpPr>
          <p:cNvPr id="13" name="TextBox 12"/>
          <p:cNvSpPr txBox="1"/>
          <p:nvPr/>
        </p:nvSpPr>
        <p:spPr>
          <a:xfrm>
            <a:off x="6309360" y="2560320"/>
            <a:ext cx="4937760" cy="3200400"/>
          </a:xfrm>
          <a:prstGeom prst="rect">
            <a:avLst/>
          </a:prstGeom>
          <a:noFill/>
        </p:spPr>
        <p:txBody>
          <a:bodyPr wrap="square">
            <a:spAutoFit/>
          </a:bodyPr>
          <a:lstStyle/>
          <a:p>
            <a:pPr algn="l">
              <a:defRPr sz="1200" b="0">
                <a:solidFill>
                  <a:srgbClr val="FFFFFF"/>
                </a:solidFill>
                <a:latin typeface="Segoe UI"/>
              </a:defRPr>
            </a:pPr>
            <a:r>
              <a:t>📦 المُخرَج الأساسي (Callable Python Module):</a:t>
            </a:r>
            <a:br/>
            <a:r>
              <a:t>   • موديول كامل جاهز: backend/sentiment.py</a:t>
            </a:r>
            <a:br/>
            <a:r>
              <a:t>   • يحتوي على دالة واضحة: analyze_sentiment(text) تعيد القاموس:</a:t>
            </a:r>
            <a:br/>
            <a:r>
              <a:t>     { 'sentiment': 'NEGATIVE', 'score': 0.98, 'sentiment_risk': 98.0 }</a:t>
            </a:r>
            <a:br/>
            <a:br/>
            <a:r>
              <a:t>🤝 لمن سلّمت شغلها؟</a:t>
            </a:r>
            <a:br/>
            <a:r>
              <a:t>   • سلّمت الدالة والموديول بالكامل إلى ⬅️ م. أحمد.</a:t>
            </a:r>
            <a:br/>
            <a:br/>
            <a:r>
              <a:t>🎯 فائدة التسليم لم. أحمد:</a:t>
            </a:r>
            <a:br/>
            <a:r>
              <a:t>   • أتاح لم. أحمد استدعاء analyze_sentiment بضغطة زر داخل معادلة الخطر الشاملة (60/40) دون الدخول في تعقيدات الـ PyTorch والـ Transformers.</a:t>
            </a:r>
          </a:p>
        </p:txBody>
      </p:sp>
      <p:sp>
        <p:nvSpPr>
          <p:cNvPr id="14" name="TextBox 13"/>
          <p:cNvSpPr txBox="1"/>
          <p:nvPr/>
        </p:nvSpPr>
        <p:spPr>
          <a:xfrm>
            <a:off x="731520" y="6035040"/>
            <a:ext cx="10698480" cy="365760"/>
          </a:xfrm>
          <a:prstGeom prst="rect">
            <a:avLst/>
          </a:prstGeom>
          <a:noFill/>
        </p:spPr>
        <p:txBody>
          <a:bodyPr wrap="square">
            <a:spAutoFit/>
          </a:bodyPr>
          <a:lstStyle/>
          <a:p>
            <a:pPr algn="l">
              <a:defRPr sz="1200" b="1">
                <a:solidFill>
                  <a:srgbClr val="FBBF24"/>
                </a:solidFill>
                <a:latin typeface="Segoe UI"/>
              </a:defRPr>
            </a:pPr>
            <a:r>
              <a:t>🔑 سؤال الدكتور المتوقع: ليه ما استعملتوش NLTK أو VADER؟ الإجابة: لأن DistilBERT يفهم السياق والمعنى الدلالي العميق (Context &amp; Semantics) وليس مجرد عد الكلمات الإيجابية والسلبية.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PHASE 3 • SYSTEM INTEGRATION</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المرحلة الثالثة: م. أحمد (Backend, Fusion Engine &amp; Database)</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حلقة الوصل والعمود الفقري: دمج الموديلات، بناء الـ API وقاعدة البيانات PostgreSQL</a:t>
            </a:r>
          </a:p>
        </p:txBody>
      </p:sp>
      <p:sp>
        <p:nvSpPr>
          <p:cNvPr id="6" name="Rectangle 5"/>
          <p:cNvSpPr/>
          <p:nvPr/>
        </p:nvSpPr>
        <p:spPr>
          <a:xfrm>
            <a:off x="731520" y="1920240"/>
            <a:ext cx="512064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512064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754880" cy="365760"/>
          </a:xfrm>
          <a:prstGeom prst="rect">
            <a:avLst/>
          </a:prstGeom>
          <a:noFill/>
        </p:spPr>
        <p:txBody>
          <a:bodyPr wrap="square">
            <a:spAutoFit/>
          </a:bodyPr>
          <a:lstStyle/>
          <a:p>
            <a:pPr algn="l">
              <a:defRPr sz="1600" b="1">
                <a:solidFill>
                  <a:srgbClr val="38BDF8"/>
                </a:solidFill>
                <a:latin typeface="Segoe UI"/>
              </a:defRPr>
            </a:pPr>
            <a:r>
              <a:t>ماذا استلم م. أحمد وكيف ربط القطع؟</a:t>
            </a:r>
          </a:p>
        </p:txBody>
      </p:sp>
      <p:sp>
        <p:nvSpPr>
          <p:cNvPr id="9" name="TextBox 8"/>
          <p:cNvSpPr txBox="1"/>
          <p:nvPr/>
        </p:nvSpPr>
        <p:spPr>
          <a:xfrm>
            <a:off x="914400" y="2560320"/>
            <a:ext cx="4754880" cy="3200400"/>
          </a:xfrm>
          <a:prstGeom prst="rect">
            <a:avLst/>
          </a:prstGeom>
          <a:noFill/>
        </p:spPr>
        <p:txBody>
          <a:bodyPr wrap="square">
            <a:spAutoFit/>
          </a:bodyPr>
          <a:lstStyle/>
          <a:p>
            <a:pPr algn="l">
              <a:defRPr sz="1200" b="0">
                <a:solidFill>
                  <a:srgbClr val="FFFFFF"/>
                </a:solidFill>
                <a:latin typeface="Segoe UI"/>
              </a:defRPr>
            </a:pPr>
            <a:r>
              <a:t>1. المدخلات المستلمة من الفريق:</a:t>
            </a:r>
            <a:br/>
            <a:r>
              <a:t>   • داتا الـ 50 موظف من م. أسماء.</a:t>
            </a:r>
            <a:br/>
            <a:r>
              <a:t>   • ملف الموديل .pkl من م. عبد الله.</a:t>
            </a:r>
            <a:br/>
            <a:r>
              <a:t>   • دالة المشاعر sentiment.py من م. شيماء.</a:t>
            </a:r>
            <a:br/>
            <a:br/>
            <a:r>
              <a:t>2. ما بناه م. أحمد لتجميع المشروع:</a:t>
            </a:r>
            <a:br/>
            <a:r>
              <a:t>   • قاعدة البيانات (backend/database.py): PostgreSQL + SQLAlchemy بجداول Employees, Assessments, Feedback, Users.</a:t>
            </a:r>
            <a:br/>
            <a:r>
              <a:t>   • محرك الدمج الهجين (backend/risk.py):</a:t>
            </a:r>
            <a:br/>
            <a:r>
              <a:t>     الخطر الشامل = (60% نموذج أرقام م. عبد الله) + (40% مشاعر نصوص م. شيماء).</a:t>
            </a:r>
            <a:br/>
            <a:r>
              <a:t>   • محرك التفسير (backend/explain.py): حساب قيم SHAP لإظهار الأسباب.</a:t>
            </a:r>
            <a:br/>
            <a:r>
              <a:t>   • الحماية والتشفير: مكتبة Bcrypt لحماية كلمات المرور ونظام الـ JWT.</a:t>
            </a:r>
          </a:p>
        </p:txBody>
      </p:sp>
      <p:sp>
        <p:nvSpPr>
          <p:cNvPr id="10" name="Rectangle 9"/>
          <p:cNvSpPr/>
          <p:nvPr/>
        </p:nvSpPr>
        <p:spPr>
          <a:xfrm>
            <a:off x="6126480" y="1920240"/>
            <a:ext cx="530352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920240"/>
            <a:ext cx="53035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103120"/>
            <a:ext cx="4937760" cy="365760"/>
          </a:xfrm>
          <a:prstGeom prst="rect">
            <a:avLst/>
          </a:prstGeom>
          <a:noFill/>
        </p:spPr>
        <p:txBody>
          <a:bodyPr wrap="square">
            <a:spAutoFit/>
          </a:bodyPr>
          <a:lstStyle/>
          <a:p>
            <a:pPr algn="l">
              <a:defRPr sz="1600" b="1">
                <a:solidFill>
                  <a:srgbClr val="34D399"/>
                </a:solidFill>
                <a:latin typeface="Segoe UI"/>
              </a:defRPr>
            </a:pPr>
            <a:r>
              <a:t>📦 التسليم الفعلي: ماذا قدّم لم. نوري؟</a:t>
            </a:r>
          </a:p>
        </p:txBody>
      </p:sp>
      <p:sp>
        <p:nvSpPr>
          <p:cNvPr id="13" name="TextBox 12"/>
          <p:cNvSpPr txBox="1"/>
          <p:nvPr/>
        </p:nvSpPr>
        <p:spPr>
          <a:xfrm>
            <a:off x="6309360" y="2560320"/>
            <a:ext cx="4937760" cy="3200400"/>
          </a:xfrm>
          <a:prstGeom prst="rect">
            <a:avLst/>
          </a:prstGeom>
          <a:noFill/>
        </p:spPr>
        <p:txBody>
          <a:bodyPr wrap="square">
            <a:spAutoFit/>
          </a:bodyPr>
          <a:lstStyle/>
          <a:p>
            <a:pPr algn="l">
              <a:defRPr sz="1200" b="0">
                <a:solidFill>
                  <a:srgbClr val="FFFFFF"/>
                </a:solidFill>
                <a:latin typeface="Segoe UI"/>
              </a:defRPr>
            </a:pPr>
            <a:r>
              <a:t>📦 المُخرَج الأساسي (Operational REST API):</a:t>
            </a:r>
            <a:br/>
            <a:r>
              <a:t>   • خادم FastAPI سريع وعصري (backend/main.py) يحتوي على Endpoints:</a:t>
            </a:r>
            <a:br/>
            <a:r>
              <a:t>     1. POST /api/auth/login (تسجيل دخول وتوزيع الصلاحيات)</a:t>
            </a:r>
            <a:br/>
            <a:r>
              <a:t>     2. GET /api/stats (إحصائيات المنظمة ونسب الخطر)</a:t>
            </a:r>
            <a:br/>
            <a:r>
              <a:t>     3. GET /api/employees (عرض قائمة الموظفين وحالاتهم)</a:t>
            </a:r>
            <a:br/>
            <a:r>
              <a:t>     4. POST /api/assessments (حساب الخطر فوري وتحديث الحالة)</a:t>
            </a:r>
            <a:br/>
            <a:r>
              <a:t>     5. GET /api/assessments/history (سجل إعادة التقييمات للموظف)</a:t>
            </a:r>
            <a:br/>
            <a:br/>
            <a:r>
              <a:t>🤝 لمن سلّم شغله؟</a:t>
            </a:r>
            <a:br/>
            <a:r>
              <a:t>   • سلّم روابط الـ API وتوثيق الـ Swagger إلى ⬅️ م. نوري لبناء الواجهات.</a:t>
            </a:r>
          </a:p>
        </p:txBody>
      </p:sp>
      <p:sp>
        <p:nvSpPr>
          <p:cNvPr id="14" name="TextBox 13"/>
          <p:cNvSpPr txBox="1"/>
          <p:nvPr/>
        </p:nvSpPr>
        <p:spPr>
          <a:xfrm>
            <a:off x="731520" y="6035040"/>
            <a:ext cx="10698480" cy="365760"/>
          </a:xfrm>
          <a:prstGeom prst="rect">
            <a:avLst/>
          </a:prstGeom>
          <a:noFill/>
        </p:spPr>
        <p:txBody>
          <a:bodyPr wrap="square">
            <a:spAutoFit/>
          </a:bodyPr>
          <a:lstStyle/>
          <a:p>
            <a:pPr algn="l">
              <a:defRPr sz="1200" b="1">
                <a:solidFill>
                  <a:srgbClr val="FBBF24"/>
                </a:solidFill>
                <a:latin typeface="Segoe UI"/>
              </a:defRPr>
            </a:pPr>
            <a:r>
              <a:t>🔑 سؤال الدكتور المتوقع: ليه بنيتوا Risk Engine 60/40؟ الإجابة: لأن الأرقام وحدها خادعة بدون سماع شكوى الموظف، والمشاعر وحدها عاطفية بدون إثباتات ساعات العمل، فالدمج يحقق أعلى عدالة ودقة.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PHASE 4 • USER EXPERIENCE</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المرحلة الرابعة: م. نوري (Frontend UI &amp; Real-Time Portals)</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تحويل الأكواد والمعادلات المعقدة إلى شاشات تفاعلية جذابة وسهلة الاستخدام</a:t>
            </a:r>
          </a:p>
        </p:txBody>
      </p:sp>
      <p:sp>
        <p:nvSpPr>
          <p:cNvPr id="6" name="Rectangle 5"/>
          <p:cNvSpPr/>
          <p:nvPr/>
        </p:nvSpPr>
        <p:spPr>
          <a:xfrm>
            <a:off x="731520" y="1920240"/>
            <a:ext cx="512064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512064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754880" cy="365760"/>
          </a:xfrm>
          <a:prstGeom prst="rect">
            <a:avLst/>
          </a:prstGeom>
          <a:noFill/>
        </p:spPr>
        <p:txBody>
          <a:bodyPr wrap="square">
            <a:spAutoFit/>
          </a:bodyPr>
          <a:lstStyle/>
          <a:p>
            <a:pPr algn="l">
              <a:defRPr sz="1600" b="1">
                <a:solidFill>
                  <a:srgbClr val="34D399"/>
                </a:solidFill>
                <a:latin typeface="Segoe UI"/>
              </a:defRPr>
            </a:pPr>
            <a:r>
              <a:t>ماذا استلمت وماذا صممت م. نوري؟</a:t>
            </a:r>
          </a:p>
        </p:txBody>
      </p:sp>
      <p:sp>
        <p:nvSpPr>
          <p:cNvPr id="9" name="TextBox 8"/>
          <p:cNvSpPr txBox="1"/>
          <p:nvPr/>
        </p:nvSpPr>
        <p:spPr>
          <a:xfrm>
            <a:off x="914400" y="2560320"/>
            <a:ext cx="4754880" cy="3200400"/>
          </a:xfrm>
          <a:prstGeom prst="rect">
            <a:avLst/>
          </a:prstGeom>
          <a:noFill/>
        </p:spPr>
        <p:txBody>
          <a:bodyPr wrap="square">
            <a:spAutoFit/>
          </a:bodyPr>
          <a:lstStyle/>
          <a:p>
            <a:pPr algn="l">
              <a:defRPr sz="1200" b="0">
                <a:solidFill>
                  <a:srgbClr val="FFFFFF"/>
                </a:solidFill>
                <a:latin typeface="Segoe UI"/>
              </a:defRPr>
            </a:pPr>
            <a:r>
              <a:t>1. المدخلات المستلمة:</a:t>
            </a:r>
            <a:br/>
            <a:r>
              <a:t>   • استلمت نقاط اتصال الـ REST API من م. أحمد.</a:t>
            </a:r>
            <a:br/>
            <a:br/>
            <a:r>
              <a:t>2. بناء المنظومة التفاعلية (HTML5 / Vanilla JS / CSS3):</a:t>
            </a:r>
            <a:br/>
            <a:r>
              <a:t>   • لوحة تحكم المدير (index.html): لمراقبة الـ 50 موظف، مع مخططات Chart.js لتوزيع الخطر والتنبيهات الاستباقية.</a:t>
            </a:r>
            <a:br/>
            <a:r>
              <a:t>   • بوابة الموظف الشخصية (employee-portal.html):</a:t>
            </a:r>
            <a:br/>
            <a:r>
              <a:t>     - تتيح للموظف رؤية حالته ودرجة إجهاده.</a:t>
            </a:r>
            <a:br/>
            <a:r>
              <a:t>     - تتيح له إعادة التقييم الذاتي وتعديل ساعاته ومشاعره متى تغيرت ظروفه.</a:t>
            </a:r>
            <a:br/>
            <a:r>
              <a:t>   • الرسوم البيانية الحية (Chart.js): تحويل أرقام الباك إند إلى رسوم بيانية ومؤشرات دائرية ملونة.</a:t>
            </a:r>
            <a:br/>
            <a:r>
              <a:t>   • نظام التعريب واللغات (i18n.js): تبديل فوري بين العربية والإنجليزية.</a:t>
            </a:r>
          </a:p>
        </p:txBody>
      </p:sp>
      <p:sp>
        <p:nvSpPr>
          <p:cNvPr id="10" name="Rectangle 9"/>
          <p:cNvSpPr/>
          <p:nvPr/>
        </p:nvSpPr>
        <p:spPr>
          <a:xfrm>
            <a:off x="6126480" y="1920240"/>
            <a:ext cx="5303520" cy="402336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920240"/>
            <a:ext cx="53035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103120"/>
            <a:ext cx="4937760" cy="365760"/>
          </a:xfrm>
          <a:prstGeom prst="rect">
            <a:avLst/>
          </a:prstGeom>
          <a:noFill/>
        </p:spPr>
        <p:txBody>
          <a:bodyPr wrap="square">
            <a:spAutoFit/>
          </a:bodyPr>
          <a:lstStyle/>
          <a:p>
            <a:pPr algn="l">
              <a:defRPr sz="1600" b="1">
                <a:solidFill>
                  <a:srgbClr val="38BDF8"/>
                </a:solidFill>
                <a:latin typeface="Segoe UI"/>
              </a:defRPr>
            </a:pPr>
            <a:r>
              <a:t>📦 النتيجة النهائية للمشروع ككل</a:t>
            </a:r>
          </a:p>
        </p:txBody>
      </p:sp>
      <p:sp>
        <p:nvSpPr>
          <p:cNvPr id="13" name="TextBox 12"/>
          <p:cNvSpPr txBox="1"/>
          <p:nvPr/>
        </p:nvSpPr>
        <p:spPr>
          <a:xfrm>
            <a:off x="6309360" y="2560320"/>
            <a:ext cx="4937760" cy="3200400"/>
          </a:xfrm>
          <a:prstGeom prst="rect">
            <a:avLst/>
          </a:prstGeom>
          <a:noFill/>
        </p:spPr>
        <p:txBody>
          <a:bodyPr wrap="square">
            <a:spAutoFit/>
          </a:bodyPr>
          <a:lstStyle/>
          <a:p>
            <a:pPr algn="l">
              <a:defRPr sz="1200" b="0">
                <a:solidFill>
                  <a:srgbClr val="FFFFFF"/>
                </a:solidFill>
                <a:latin typeface="Segoe UI"/>
              </a:defRPr>
            </a:pPr>
            <a:r>
              <a:t>💻 المُنتج النهائي أمام المستخدم والدكتور:</a:t>
            </a:r>
            <a:br/>
            <a:r>
              <a:t>   • نظام مؤسسي متكامل ومتناسق 100%:</a:t>
            </a:r>
            <a:br/>
            <a:r>
              <a:t>     - واجهة مستخدم سريعة وخفيفة بدون أطر عمل معقدة.</a:t>
            </a:r>
            <a:br/>
            <a:r>
              <a:t>     - إرسال طلبات Fetch API غير متزامنة (Async) تضمن سلاسة الحركة.</a:t>
            </a:r>
            <a:br/>
            <a:r>
              <a:t>     - عرض تفسيرات الذكاء الاصطناعي (SHAP Explanations) في بطاقات واضحة.</a:t>
            </a:r>
            <a:br/>
            <a:r>
              <a:t>     - مؤشر استجابة فوري (Toast Notifications) عند حفظ البيانات بنجاح.</a:t>
            </a:r>
            <a:br/>
            <a:br/>
            <a:r>
              <a:t>🌟 الإنجاز المشترك:</a:t>
            </a:r>
            <a:br/>
            <a:r>
              <a:t>   • واجهة م. نوري أظهرت عبقرية موديل م. عبد الله، وحساسية نصوص م. شيماء، واستقرار باك إند م. أحمد، ودقة بيانات م. أسماء!</a:t>
            </a:r>
          </a:p>
        </p:txBody>
      </p:sp>
      <p:sp>
        <p:nvSpPr>
          <p:cNvPr id="14" name="TextBox 13"/>
          <p:cNvSpPr txBox="1"/>
          <p:nvPr/>
        </p:nvSpPr>
        <p:spPr>
          <a:xfrm>
            <a:off x="731520" y="6035040"/>
            <a:ext cx="10698480" cy="365760"/>
          </a:xfrm>
          <a:prstGeom prst="rect">
            <a:avLst/>
          </a:prstGeom>
          <a:noFill/>
        </p:spPr>
        <p:txBody>
          <a:bodyPr wrap="square">
            <a:spAutoFit/>
          </a:bodyPr>
          <a:lstStyle/>
          <a:p>
            <a:pPr algn="l">
              <a:defRPr sz="1200" b="1">
                <a:solidFill>
                  <a:srgbClr val="FBBF24"/>
                </a:solidFill>
                <a:latin typeface="Segoe UI"/>
              </a:defRPr>
            </a:pPr>
            <a:r>
              <a:t>🔑 سؤال الدكتور المتوقع: لو سأل 'هل الموظف يقدر يعدل حالته بنفسه؟' الإجابة: نعم، من خلال بوابة الموظف يقدر يدخل تقييم جديد ويشوف التغير اللحظي في درجة الخطر.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LIVE SCENARIO</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سيناريو حي يوضح التكامل: ماذا يحدث في الثانية الواحدة؟</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تتبع رحلة ضغطة زر واحدة من متصفح الموظف حتى ظهور النتيجة وتحليل الذكاء الاصطناعي</a:t>
            </a:r>
          </a:p>
        </p:txBody>
      </p:sp>
      <p:sp>
        <p:nvSpPr>
          <p:cNvPr id="6" name="Rectangle 5"/>
          <p:cNvSpPr/>
          <p:nvPr/>
        </p:nvSpPr>
        <p:spPr>
          <a:xfrm>
            <a:off x="731520" y="192024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34747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57400"/>
            <a:ext cx="3200400" cy="320040"/>
          </a:xfrm>
          <a:prstGeom prst="rect">
            <a:avLst/>
          </a:prstGeom>
          <a:noFill/>
        </p:spPr>
        <p:txBody>
          <a:bodyPr wrap="square">
            <a:spAutoFit/>
          </a:bodyPr>
          <a:lstStyle/>
          <a:p>
            <a:pPr algn="l">
              <a:defRPr sz="1300" b="1">
                <a:solidFill>
                  <a:srgbClr val="34D399"/>
                </a:solidFill>
                <a:latin typeface="Segoe UI"/>
              </a:defRPr>
            </a:pPr>
            <a:r>
              <a:t>1. إدخال وتعديل الحالة</a:t>
            </a:r>
          </a:p>
        </p:txBody>
      </p:sp>
      <p:sp>
        <p:nvSpPr>
          <p:cNvPr id="9" name="TextBox 8"/>
          <p:cNvSpPr txBox="1"/>
          <p:nvPr/>
        </p:nvSpPr>
        <p:spPr>
          <a:xfrm>
            <a:off x="868680" y="2423160"/>
            <a:ext cx="3200400" cy="1051560"/>
          </a:xfrm>
          <a:prstGeom prst="rect">
            <a:avLst/>
          </a:prstGeom>
          <a:noFill/>
        </p:spPr>
        <p:txBody>
          <a:bodyPr wrap="square">
            <a:spAutoFit/>
          </a:bodyPr>
          <a:lstStyle/>
          <a:p>
            <a:pPr algn="l">
              <a:defRPr sz="1100" b="0">
                <a:solidFill>
                  <a:srgbClr val="FFFFFF"/>
                </a:solidFill>
                <a:latin typeface="Segoe UI"/>
              </a:defRPr>
            </a:pPr>
            <a:r>
              <a:t>الموظف في واجهة م. نوري يكتب: 'I feel exhausted with too many meetings' ويدخل 52 ساعة عمل.</a:t>
            </a:r>
          </a:p>
        </p:txBody>
      </p:sp>
      <p:sp>
        <p:nvSpPr>
          <p:cNvPr id="10" name="Rectangle 9"/>
          <p:cNvSpPr/>
          <p:nvPr/>
        </p:nvSpPr>
        <p:spPr>
          <a:xfrm>
            <a:off x="4343400" y="192024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92024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057400"/>
            <a:ext cx="3200400" cy="320040"/>
          </a:xfrm>
          <a:prstGeom prst="rect">
            <a:avLst/>
          </a:prstGeom>
          <a:noFill/>
        </p:spPr>
        <p:txBody>
          <a:bodyPr wrap="square">
            <a:spAutoFit/>
          </a:bodyPr>
          <a:lstStyle/>
          <a:p>
            <a:pPr algn="l">
              <a:defRPr sz="1300" b="1">
                <a:solidFill>
                  <a:srgbClr val="38BDF8"/>
                </a:solidFill>
                <a:latin typeface="Segoe UI"/>
              </a:defRPr>
            </a:pPr>
            <a:r>
              <a:t>2. طلب الشبكة السريع</a:t>
            </a:r>
          </a:p>
        </p:txBody>
      </p:sp>
      <p:sp>
        <p:nvSpPr>
          <p:cNvPr id="13" name="TextBox 12"/>
          <p:cNvSpPr txBox="1"/>
          <p:nvPr/>
        </p:nvSpPr>
        <p:spPr>
          <a:xfrm>
            <a:off x="4480560" y="2423160"/>
            <a:ext cx="3200400" cy="1051560"/>
          </a:xfrm>
          <a:prstGeom prst="rect">
            <a:avLst/>
          </a:prstGeom>
          <a:noFill/>
        </p:spPr>
        <p:txBody>
          <a:bodyPr wrap="square">
            <a:spAutoFit/>
          </a:bodyPr>
          <a:lstStyle/>
          <a:p>
            <a:pPr algn="l">
              <a:defRPr sz="1100" b="0">
                <a:solidFill>
                  <a:srgbClr val="FFFFFF"/>
                </a:solidFill>
                <a:latin typeface="Segoe UI"/>
              </a:defRPr>
            </a:pPr>
            <a:r>
              <a:t>المتصفح يرسل POST Request محمي بالـ JWT إلى سيرفر FastAPI الذي بناه م. أحمد.</a:t>
            </a:r>
          </a:p>
        </p:txBody>
      </p:sp>
      <p:sp>
        <p:nvSpPr>
          <p:cNvPr id="14" name="Rectangle 13"/>
          <p:cNvSpPr/>
          <p:nvPr/>
        </p:nvSpPr>
        <p:spPr>
          <a:xfrm>
            <a:off x="7955279" y="192024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1920240"/>
            <a:ext cx="347472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2057400"/>
            <a:ext cx="3200400" cy="320040"/>
          </a:xfrm>
          <a:prstGeom prst="rect">
            <a:avLst/>
          </a:prstGeom>
          <a:noFill/>
        </p:spPr>
        <p:txBody>
          <a:bodyPr wrap="square">
            <a:spAutoFit/>
          </a:bodyPr>
          <a:lstStyle/>
          <a:p>
            <a:pPr algn="l">
              <a:defRPr sz="1300" b="1">
                <a:solidFill>
                  <a:srgbClr val="FBBF24"/>
                </a:solidFill>
                <a:latin typeface="Segoe UI"/>
              </a:defRPr>
            </a:pPr>
            <a:r>
              <a:t>3. تنبؤ الأرقام ML</a:t>
            </a:r>
          </a:p>
        </p:txBody>
      </p:sp>
      <p:sp>
        <p:nvSpPr>
          <p:cNvPr id="17" name="TextBox 16"/>
          <p:cNvSpPr txBox="1"/>
          <p:nvPr/>
        </p:nvSpPr>
        <p:spPr>
          <a:xfrm>
            <a:off x="8092440" y="2423160"/>
            <a:ext cx="3200400" cy="1051560"/>
          </a:xfrm>
          <a:prstGeom prst="rect">
            <a:avLst/>
          </a:prstGeom>
          <a:noFill/>
        </p:spPr>
        <p:txBody>
          <a:bodyPr wrap="square">
            <a:spAutoFit/>
          </a:bodyPr>
          <a:lstStyle/>
          <a:p>
            <a:pPr algn="l">
              <a:defRPr sz="1100" b="0">
                <a:solidFill>
                  <a:srgbClr val="FFFFFF"/>
                </a:solidFill>
                <a:latin typeface="Segoe UI"/>
              </a:defRPr>
            </a:pPr>
            <a:r>
              <a:t>م. أحمد يمرر الـ 52 ساعة لنموذج Random Forest الخاص بـ م. عبد الله ⬅️ يحسب Workload Risk = 88%.</a:t>
            </a:r>
          </a:p>
        </p:txBody>
      </p:sp>
      <p:sp>
        <p:nvSpPr>
          <p:cNvPr id="18" name="Rectangle 17"/>
          <p:cNvSpPr/>
          <p:nvPr/>
        </p:nvSpPr>
        <p:spPr>
          <a:xfrm>
            <a:off x="731520" y="388620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886200"/>
            <a:ext cx="347472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23360"/>
            <a:ext cx="3200400" cy="320040"/>
          </a:xfrm>
          <a:prstGeom prst="rect">
            <a:avLst/>
          </a:prstGeom>
          <a:noFill/>
        </p:spPr>
        <p:txBody>
          <a:bodyPr wrap="square">
            <a:spAutoFit/>
          </a:bodyPr>
          <a:lstStyle/>
          <a:p>
            <a:pPr algn="l">
              <a:defRPr sz="1300" b="1">
                <a:solidFill>
                  <a:srgbClr val="C084FC"/>
                </a:solidFill>
                <a:latin typeface="Segoe UI"/>
              </a:defRPr>
            </a:pPr>
            <a:r>
              <a:t>4. تحليل المشاعر NLP</a:t>
            </a:r>
          </a:p>
        </p:txBody>
      </p:sp>
      <p:sp>
        <p:nvSpPr>
          <p:cNvPr id="21" name="TextBox 20"/>
          <p:cNvSpPr txBox="1"/>
          <p:nvPr/>
        </p:nvSpPr>
        <p:spPr>
          <a:xfrm>
            <a:off x="868680" y="4389120"/>
            <a:ext cx="3200400" cy="1051560"/>
          </a:xfrm>
          <a:prstGeom prst="rect">
            <a:avLst/>
          </a:prstGeom>
          <a:noFill/>
        </p:spPr>
        <p:txBody>
          <a:bodyPr wrap="square">
            <a:spAutoFit/>
          </a:bodyPr>
          <a:lstStyle/>
          <a:p>
            <a:pPr algn="l">
              <a:defRPr sz="1100" b="0">
                <a:solidFill>
                  <a:srgbClr val="FFFFFF"/>
                </a:solidFill>
                <a:latin typeface="Segoe UI"/>
              </a:defRPr>
            </a:pPr>
            <a:r>
              <a:t>م. أحمد يمرر جملة 'I feel exhausted' لنموذج DistilBERT الخاص بـ م. شيماء ⬅️ يحسب Sentiment Risk = 96%.</a:t>
            </a:r>
          </a:p>
        </p:txBody>
      </p:sp>
      <p:sp>
        <p:nvSpPr>
          <p:cNvPr id="22" name="Rectangle 21"/>
          <p:cNvSpPr/>
          <p:nvPr/>
        </p:nvSpPr>
        <p:spPr>
          <a:xfrm>
            <a:off x="4343400" y="388620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88620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023360"/>
            <a:ext cx="3200400" cy="320040"/>
          </a:xfrm>
          <a:prstGeom prst="rect">
            <a:avLst/>
          </a:prstGeom>
          <a:noFill/>
        </p:spPr>
        <p:txBody>
          <a:bodyPr wrap="square">
            <a:spAutoFit/>
          </a:bodyPr>
          <a:lstStyle/>
          <a:p>
            <a:pPr algn="l">
              <a:defRPr sz="1300" b="1">
                <a:solidFill>
                  <a:srgbClr val="38BDF8"/>
                </a:solidFill>
                <a:latin typeface="Segoe UI"/>
              </a:defRPr>
            </a:pPr>
            <a:r>
              <a:t>5. المعادلة الهجينة 60/40</a:t>
            </a:r>
          </a:p>
        </p:txBody>
      </p:sp>
      <p:sp>
        <p:nvSpPr>
          <p:cNvPr id="25" name="TextBox 24"/>
          <p:cNvSpPr txBox="1"/>
          <p:nvPr/>
        </p:nvSpPr>
        <p:spPr>
          <a:xfrm>
            <a:off x="4480560" y="4389120"/>
            <a:ext cx="3200400" cy="1051560"/>
          </a:xfrm>
          <a:prstGeom prst="rect">
            <a:avLst/>
          </a:prstGeom>
          <a:noFill/>
        </p:spPr>
        <p:txBody>
          <a:bodyPr wrap="square">
            <a:spAutoFit/>
          </a:bodyPr>
          <a:lstStyle/>
          <a:p>
            <a:pPr algn="l">
              <a:defRPr sz="1100" b="0">
                <a:solidFill>
                  <a:srgbClr val="FFFFFF"/>
                </a:solidFill>
                <a:latin typeface="Segoe UI"/>
              </a:defRPr>
            </a:pPr>
            <a:r>
              <a:t>محرك م. أحمد يحسب: (88 * 0.6) + (96 * 0.4) = 91.2% (خطر احتراق وظيفي أحمر High Risk!).</a:t>
            </a:r>
          </a:p>
        </p:txBody>
      </p:sp>
      <p:sp>
        <p:nvSpPr>
          <p:cNvPr id="26" name="Rectangle 25"/>
          <p:cNvSpPr/>
          <p:nvPr/>
        </p:nvSpPr>
        <p:spPr>
          <a:xfrm>
            <a:off x="7955279" y="388620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55279" y="3886200"/>
            <a:ext cx="34747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92440" y="4023360"/>
            <a:ext cx="3200400" cy="320040"/>
          </a:xfrm>
          <a:prstGeom prst="rect">
            <a:avLst/>
          </a:prstGeom>
          <a:noFill/>
        </p:spPr>
        <p:txBody>
          <a:bodyPr wrap="square">
            <a:spAutoFit/>
          </a:bodyPr>
          <a:lstStyle/>
          <a:p>
            <a:pPr algn="l">
              <a:defRPr sz="1300" b="1">
                <a:solidFill>
                  <a:srgbClr val="34D399"/>
                </a:solidFill>
                <a:latin typeface="Segoe UI"/>
              </a:defRPr>
            </a:pPr>
            <a:r>
              <a:t>6. الحفظ والعرض اللحظي</a:t>
            </a:r>
          </a:p>
        </p:txBody>
      </p:sp>
      <p:sp>
        <p:nvSpPr>
          <p:cNvPr id="29" name="TextBox 28"/>
          <p:cNvSpPr txBox="1"/>
          <p:nvPr/>
        </p:nvSpPr>
        <p:spPr>
          <a:xfrm>
            <a:off x="8092440" y="4389120"/>
            <a:ext cx="3200400" cy="1051560"/>
          </a:xfrm>
          <a:prstGeom prst="rect">
            <a:avLst/>
          </a:prstGeom>
          <a:noFill/>
        </p:spPr>
        <p:txBody>
          <a:bodyPr wrap="square">
            <a:spAutoFit/>
          </a:bodyPr>
          <a:lstStyle/>
          <a:p>
            <a:pPr algn="l">
              <a:defRPr sz="1100" b="0">
                <a:solidFill>
                  <a:srgbClr val="FFFFFF"/>
                </a:solidFill>
                <a:latin typeface="Segoe UI"/>
              </a:defRPr>
            </a:pPr>
            <a:r>
              <a:t>يتم حفظ السجل في PostgreSQL، وتضيء شاشة م. نوري بالأحمر مع كارت تفسير SHAP في 180ms فقط!</a:t>
            </a:r>
          </a:p>
        </p:txBody>
      </p:sp>
      <p:sp>
        <p:nvSpPr>
          <p:cNvPr id="30" name="TextBox 29"/>
          <p:cNvSpPr txBox="1"/>
          <p:nvPr/>
        </p:nvSpPr>
        <p:spPr>
          <a:xfrm>
            <a:off x="731520" y="6035040"/>
            <a:ext cx="10698480" cy="365760"/>
          </a:xfrm>
          <a:prstGeom prst="rect">
            <a:avLst/>
          </a:prstGeom>
          <a:noFill/>
        </p:spPr>
        <p:txBody>
          <a:bodyPr wrap="square">
            <a:spAutoFit/>
          </a:bodyPr>
          <a:lstStyle/>
          <a:p>
            <a:pPr algn="l">
              <a:defRPr sz="1200" b="1">
                <a:solidFill>
                  <a:srgbClr val="FFFFFF"/>
                </a:solidFill>
                <a:latin typeface="Segoe UI"/>
              </a:defRPr>
            </a:pPr>
            <a:r>
              <a:t>⚡ السرعة والدقة: المنظومة تجمع بين سرعة الاستجابة اللحظية (Real-time) ودقة الذكاء الاصطناعي المزدوج دون أي تعارض.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DEFENSE STRATEGY</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روشتة إجابة الدكتور: كيف تلخصون العمل الجماعي في دقيقة؟</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كلمات ذهبية للإجابة على سؤال لجنة المناقشة: 'كيف قسمتم العمل وجمعتوا المشروع؟'</a:t>
            </a:r>
          </a:p>
        </p:txBody>
      </p:sp>
      <p:sp>
        <p:nvSpPr>
          <p:cNvPr id="6" name="Rectangle 5"/>
          <p:cNvSpPr/>
          <p:nvPr/>
        </p:nvSpPr>
        <p:spPr>
          <a:xfrm>
            <a:off x="731520" y="1920240"/>
            <a:ext cx="10698480" cy="3931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106984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10058400" cy="365760"/>
          </a:xfrm>
          <a:prstGeom prst="rect">
            <a:avLst/>
          </a:prstGeom>
          <a:noFill/>
        </p:spPr>
        <p:txBody>
          <a:bodyPr wrap="square">
            <a:spAutoFit/>
          </a:bodyPr>
          <a:lstStyle/>
          <a:p>
            <a:pPr algn="l">
              <a:defRPr sz="1600" b="1">
                <a:solidFill>
                  <a:srgbClr val="FBBF24"/>
                </a:solidFill>
                <a:latin typeface="Segoe UI"/>
              </a:defRPr>
            </a:pPr>
            <a:r>
              <a:t>🎙️ الرد النموذجي المقترح في المناقشة (قولوا للدكتور كده بالظبط):</a:t>
            </a:r>
          </a:p>
        </p:txBody>
      </p:sp>
      <p:sp>
        <p:nvSpPr>
          <p:cNvPr id="9" name="TextBox 8"/>
          <p:cNvSpPr txBox="1"/>
          <p:nvPr/>
        </p:nvSpPr>
        <p:spPr>
          <a:xfrm>
            <a:off x="1005840" y="2560320"/>
            <a:ext cx="10058400" cy="3108960"/>
          </a:xfrm>
          <a:prstGeom prst="rect">
            <a:avLst/>
          </a:prstGeom>
          <a:noFill/>
        </p:spPr>
        <p:txBody>
          <a:bodyPr wrap="square">
            <a:spAutoFit/>
          </a:bodyPr>
          <a:lstStyle/>
          <a:p>
            <a:pPr algn="l">
              <a:defRPr sz="1300" b="0">
                <a:solidFill>
                  <a:srgbClr val="FFFFFF"/>
                </a:solidFill>
                <a:latin typeface="Segoe UI"/>
              </a:defRPr>
            </a:pPr>
            <a:r>
              <a:t>"يا دكتور، مشروع WorkPulse اتقسم حسب معمارية الـ Pipeline المتكاملة:</a:t>
            </a:r>
            <a:br/>
            <a:br/>
            <a:r>
              <a:t>1. بدأنا مع البشمهندسة أسماء اللي هيأت الداتا النظيفة والواقعية لـ 50 موظف، وحطت المعايير الرياضية وسلّمت الداتا للفريق.</a:t>
            </a:r>
            <a:br/>
            <a:br/>
            <a:r>
              <a:t>2. بعد استلام الداتا، اشتغلنا بالتوازي: البشمهندس عبد الله درّب موديل Random Forest على الأرقام وحقق دقة 90%+ وصدّر الـ .pkl، وفي نفس الوقت البشمهندسة شيماء بنت خط تحليل المشاعر بـ DistilBERT لتقييم النصوص وسلّمت موديول الـ Sentiment.</a:t>
            </a:r>
            <a:br/>
            <a:br/>
            <a:r>
              <a:t>3. البشمهندس أحمد استلم الموديلات وبنى الباك إند وقاعدة البيانات PostgreSQL ومحرك الخطر الهجين (60/40) والتفسير بـ SHAP وحوّل كل ده لـ REST APIs سريعة ومحمية.</a:t>
            </a:r>
            <a:br/>
            <a:br/>
            <a:r>
              <a:t>4. البشمهندسة نوري استلمت الـ APIs وبنت الواجهات التفاعلية بـ Chart.js وبوابات المدير والموظف وإعادة التقييم بنظام ثنائي اللغة.</a:t>
            </a:r>
            <a:br/>
            <a:br/>
            <a:r>
              <a:t>النتيجة: كل عضو كان له مُخرَج واضح (Deliverable) الزميل التاني استلمه وبنى عليه، وده اللي خلانا نوصل لنظام متماسك وشغال Live بدون أخطاء!"</a:t>
            </a:r>
          </a:p>
        </p:txBody>
      </p:sp>
      <p:sp>
        <p:nvSpPr>
          <p:cNvPr id="10" name="TextBox 9"/>
          <p:cNvSpPr txBox="1"/>
          <p:nvPr/>
        </p:nvSpPr>
        <p:spPr>
          <a:xfrm>
            <a:off x="731520" y="6035040"/>
            <a:ext cx="10698480" cy="365760"/>
          </a:xfrm>
          <a:prstGeom prst="rect">
            <a:avLst/>
          </a:prstGeom>
          <a:noFill/>
        </p:spPr>
        <p:txBody>
          <a:bodyPr wrap="square">
            <a:spAutoFit/>
          </a:bodyPr>
          <a:lstStyle/>
          <a:p>
            <a:pPr algn="l">
              <a:defRPr sz="1200" b="1">
                <a:solidFill>
                  <a:srgbClr val="34D399"/>
                </a:solidFill>
                <a:latin typeface="Segoe UI"/>
              </a:defRPr>
            </a:pPr>
            <a:r>
              <a:t>🏆 نصيحة ذهبية: إظهار التكامل بين الفريق والتسليم الواضح للمهام هو أكثر ما يُعجب لجنة المناقشة ويعكس عملاً هندسياً حقيقياً.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DELIVERABLES MATRIX</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مصفوفة التسليمات الدقيقة (Inputs vs Outputs Matrix)</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جدول مرجعي يحدد بدقة مسؤولية كل مهندس وملفات التسليم والاستلام</a:t>
            </a:r>
          </a:p>
        </p:txBody>
      </p:sp>
      <p:sp>
        <p:nvSpPr>
          <p:cNvPr id="6" name="Rectangle 5"/>
          <p:cNvSpPr/>
          <p:nvPr/>
        </p:nvSpPr>
        <p:spPr>
          <a:xfrm>
            <a:off x="731520" y="1874519"/>
            <a:ext cx="10698480" cy="658368"/>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74519"/>
            <a:ext cx="10698480" cy="7315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39112"/>
            <a:ext cx="1828800" cy="320040"/>
          </a:xfrm>
          <a:prstGeom prst="rect">
            <a:avLst/>
          </a:prstGeom>
          <a:noFill/>
        </p:spPr>
        <p:txBody>
          <a:bodyPr wrap="square">
            <a:spAutoFit/>
          </a:bodyPr>
          <a:lstStyle/>
          <a:p>
            <a:pPr algn="l">
              <a:defRPr sz="1300" b="1">
                <a:solidFill>
                  <a:srgbClr val="FB923C"/>
                </a:solidFill>
                <a:latin typeface="Segoe UI"/>
              </a:defRPr>
            </a:pPr>
            <a:r>
              <a:t>Eng. Assma</a:t>
            </a:r>
          </a:p>
        </p:txBody>
      </p:sp>
      <p:sp>
        <p:nvSpPr>
          <p:cNvPr id="9" name="TextBox 8"/>
          <p:cNvSpPr txBox="1"/>
          <p:nvPr/>
        </p:nvSpPr>
        <p:spPr>
          <a:xfrm>
            <a:off x="2834640" y="2039112"/>
            <a:ext cx="2651760" cy="320040"/>
          </a:xfrm>
          <a:prstGeom prst="rect">
            <a:avLst/>
          </a:prstGeom>
          <a:noFill/>
        </p:spPr>
        <p:txBody>
          <a:bodyPr wrap="square">
            <a:spAutoFit/>
          </a:bodyPr>
          <a:lstStyle/>
          <a:p>
            <a:pPr algn="l">
              <a:defRPr sz="1100" b="0">
                <a:solidFill>
                  <a:srgbClr val="94A3B8"/>
                </a:solidFill>
                <a:latin typeface="Segoe UI"/>
              </a:defRPr>
            </a:pPr>
            <a:r>
              <a:t>📥 المدخل: فكرة المشروع ومعايير الضغط</a:t>
            </a:r>
          </a:p>
        </p:txBody>
      </p:sp>
      <p:sp>
        <p:nvSpPr>
          <p:cNvPr id="10" name="TextBox 9"/>
          <p:cNvSpPr txBox="1"/>
          <p:nvPr/>
        </p:nvSpPr>
        <p:spPr>
          <a:xfrm>
            <a:off x="5577840" y="2039112"/>
            <a:ext cx="2560320" cy="320040"/>
          </a:xfrm>
          <a:prstGeom prst="rect">
            <a:avLst/>
          </a:prstGeom>
          <a:noFill/>
        </p:spPr>
        <p:txBody>
          <a:bodyPr wrap="square">
            <a:spAutoFit/>
          </a:bodyPr>
          <a:lstStyle/>
          <a:p>
            <a:pPr algn="l">
              <a:defRPr sz="1100" b="0">
                <a:solidFill>
                  <a:srgbClr val="FFFFFF"/>
                </a:solidFill>
                <a:latin typeface="Segoe UI"/>
              </a:defRPr>
            </a:pPr>
            <a:r>
              <a:t>⚙️ الأداة: data/generate_data.py</a:t>
            </a:r>
          </a:p>
        </p:txBody>
      </p:sp>
      <p:sp>
        <p:nvSpPr>
          <p:cNvPr id="11" name="TextBox 10"/>
          <p:cNvSpPr txBox="1"/>
          <p:nvPr/>
        </p:nvSpPr>
        <p:spPr>
          <a:xfrm>
            <a:off x="8229600" y="2039112"/>
            <a:ext cx="3108960" cy="320040"/>
          </a:xfrm>
          <a:prstGeom prst="rect">
            <a:avLst/>
          </a:prstGeom>
          <a:noFill/>
        </p:spPr>
        <p:txBody>
          <a:bodyPr wrap="square">
            <a:spAutoFit/>
          </a:bodyPr>
          <a:lstStyle/>
          <a:p>
            <a:pPr algn="l">
              <a:defRPr sz="1100" b="1">
                <a:solidFill>
                  <a:srgbClr val="FB923C"/>
                </a:solidFill>
                <a:latin typeface="Segoe UI"/>
              </a:defRPr>
            </a:pPr>
            <a:r>
              <a:t>📦 المُخرَج: ملف data/employees.csv (50 موظف)</a:t>
            </a:r>
          </a:p>
        </p:txBody>
      </p:sp>
      <p:sp>
        <p:nvSpPr>
          <p:cNvPr id="12" name="Rectangle 11"/>
          <p:cNvSpPr/>
          <p:nvPr/>
        </p:nvSpPr>
        <p:spPr>
          <a:xfrm>
            <a:off x="731520" y="2670048"/>
            <a:ext cx="10698480" cy="658368"/>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670048"/>
            <a:ext cx="1069848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34640"/>
            <a:ext cx="1828800" cy="320040"/>
          </a:xfrm>
          <a:prstGeom prst="rect">
            <a:avLst/>
          </a:prstGeom>
          <a:noFill/>
        </p:spPr>
        <p:txBody>
          <a:bodyPr wrap="square">
            <a:spAutoFit/>
          </a:bodyPr>
          <a:lstStyle/>
          <a:p>
            <a:pPr algn="l">
              <a:defRPr sz="1300" b="1">
                <a:solidFill>
                  <a:srgbClr val="FBBF24"/>
                </a:solidFill>
                <a:latin typeface="Segoe UI"/>
              </a:defRPr>
            </a:pPr>
            <a:r>
              <a:t>Eng. Abdullah</a:t>
            </a:r>
          </a:p>
        </p:txBody>
      </p:sp>
      <p:sp>
        <p:nvSpPr>
          <p:cNvPr id="15" name="TextBox 14"/>
          <p:cNvSpPr txBox="1"/>
          <p:nvPr/>
        </p:nvSpPr>
        <p:spPr>
          <a:xfrm>
            <a:off x="2834640" y="2834640"/>
            <a:ext cx="2651760" cy="320040"/>
          </a:xfrm>
          <a:prstGeom prst="rect">
            <a:avLst/>
          </a:prstGeom>
          <a:noFill/>
        </p:spPr>
        <p:txBody>
          <a:bodyPr wrap="square">
            <a:spAutoFit/>
          </a:bodyPr>
          <a:lstStyle/>
          <a:p>
            <a:pPr algn="l">
              <a:defRPr sz="1100" b="0">
                <a:solidFill>
                  <a:srgbClr val="94A3B8"/>
                </a:solidFill>
                <a:latin typeface="Segoe UI"/>
              </a:defRPr>
            </a:pPr>
            <a:r>
              <a:t>📥 المدخل: بيانات employees.csv الرقمية</a:t>
            </a:r>
          </a:p>
        </p:txBody>
      </p:sp>
      <p:sp>
        <p:nvSpPr>
          <p:cNvPr id="16" name="TextBox 15"/>
          <p:cNvSpPr txBox="1"/>
          <p:nvPr/>
        </p:nvSpPr>
        <p:spPr>
          <a:xfrm>
            <a:off x="5577840" y="2834640"/>
            <a:ext cx="2560320" cy="320040"/>
          </a:xfrm>
          <a:prstGeom prst="rect">
            <a:avLst/>
          </a:prstGeom>
          <a:noFill/>
        </p:spPr>
        <p:txBody>
          <a:bodyPr wrap="square">
            <a:spAutoFit/>
          </a:bodyPr>
          <a:lstStyle/>
          <a:p>
            <a:pPr algn="l">
              <a:defRPr sz="1100" b="0">
                <a:solidFill>
                  <a:srgbClr val="FFFFFF"/>
                </a:solidFill>
                <a:latin typeface="Segoe UI"/>
              </a:defRPr>
            </a:pPr>
            <a:r>
              <a:t>⚙️ الأداة: train_model.py + Scikit-Learn</a:t>
            </a:r>
          </a:p>
        </p:txBody>
      </p:sp>
      <p:sp>
        <p:nvSpPr>
          <p:cNvPr id="17" name="TextBox 16"/>
          <p:cNvSpPr txBox="1"/>
          <p:nvPr/>
        </p:nvSpPr>
        <p:spPr>
          <a:xfrm>
            <a:off x="8229600" y="2834640"/>
            <a:ext cx="3108960" cy="320040"/>
          </a:xfrm>
          <a:prstGeom prst="rect">
            <a:avLst/>
          </a:prstGeom>
          <a:noFill/>
        </p:spPr>
        <p:txBody>
          <a:bodyPr wrap="square">
            <a:spAutoFit/>
          </a:bodyPr>
          <a:lstStyle/>
          <a:p>
            <a:pPr algn="l">
              <a:defRPr sz="1100" b="1">
                <a:solidFill>
                  <a:srgbClr val="FBBF24"/>
                </a:solidFill>
                <a:latin typeface="Segoe UI"/>
              </a:defRPr>
            </a:pPr>
            <a:r>
              <a:t>📦 المُخرَج: models/workload_model.pkl + scaler.pkl</a:t>
            </a:r>
          </a:p>
        </p:txBody>
      </p:sp>
      <p:sp>
        <p:nvSpPr>
          <p:cNvPr id="18" name="Rectangle 17"/>
          <p:cNvSpPr/>
          <p:nvPr/>
        </p:nvSpPr>
        <p:spPr>
          <a:xfrm>
            <a:off x="731520" y="3465576"/>
            <a:ext cx="10698480" cy="658368"/>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465576"/>
            <a:ext cx="1069848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630168"/>
            <a:ext cx="1828800" cy="320040"/>
          </a:xfrm>
          <a:prstGeom prst="rect">
            <a:avLst/>
          </a:prstGeom>
          <a:noFill/>
        </p:spPr>
        <p:txBody>
          <a:bodyPr wrap="square">
            <a:spAutoFit/>
          </a:bodyPr>
          <a:lstStyle/>
          <a:p>
            <a:pPr algn="l">
              <a:defRPr sz="1300" b="1">
                <a:solidFill>
                  <a:srgbClr val="C084FC"/>
                </a:solidFill>
                <a:latin typeface="Segoe UI"/>
              </a:defRPr>
            </a:pPr>
            <a:r>
              <a:t>Eng. Shimaa</a:t>
            </a:r>
          </a:p>
        </p:txBody>
      </p:sp>
      <p:sp>
        <p:nvSpPr>
          <p:cNvPr id="21" name="TextBox 20"/>
          <p:cNvSpPr txBox="1"/>
          <p:nvPr/>
        </p:nvSpPr>
        <p:spPr>
          <a:xfrm>
            <a:off x="2834640" y="3630168"/>
            <a:ext cx="2651760" cy="320040"/>
          </a:xfrm>
          <a:prstGeom prst="rect">
            <a:avLst/>
          </a:prstGeom>
          <a:noFill/>
        </p:spPr>
        <p:txBody>
          <a:bodyPr wrap="square">
            <a:spAutoFit/>
          </a:bodyPr>
          <a:lstStyle/>
          <a:p>
            <a:pPr algn="l">
              <a:defRPr sz="1100" b="0">
                <a:solidFill>
                  <a:srgbClr val="94A3B8"/>
                </a:solidFill>
                <a:latin typeface="Segoe UI"/>
              </a:defRPr>
            </a:pPr>
            <a:r>
              <a:t>📥 المدخل: نصوص الـ Feedbacks بالملف</a:t>
            </a:r>
          </a:p>
        </p:txBody>
      </p:sp>
      <p:sp>
        <p:nvSpPr>
          <p:cNvPr id="22" name="TextBox 21"/>
          <p:cNvSpPr txBox="1"/>
          <p:nvPr/>
        </p:nvSpPr>
        <p:spPr>
          <a:xfrm>
            <a:off x="5577840" y="3630168"/>
            <a:ext cx="2560320" cy="320040"/>
          </a:xfrm>
          <a:prstGeom prst="rect">
            <a:avLst/>
          </a:prstGeom>
          <a:noFill/>
        </p:spPr>
        <p:txBody>
          <a:bodyPr wrap="square">
            <a:spAutoFit/>
          </a:bodyPr>
          <a:lstStyle/>
          <a:p>
            <a:pPr algn="l">
              <a:defRPr sz="1100" b="0">
                <a:solidFill>
                  <a:srgbClr val="FFFFFF"/>
                </a:solidFill>
                <a:latin typeface="Segoe UI"/>
              </a:defRPr>
            </a:pPr>
            <a:r>
              <a:t>⚙️ الأداة: DistilBERT + HuggingFace PyTorch</a:t>
            </a:r>
          </a:p>
        </p:txBody>
      </p:sp>
      <p:sp>
        <p:nvSpPr>
          <p:cNvPr id="23" name="TextBox 22"/>
          <p:cNvSpPr txBox="1"/>
          <p:nvPr/>
        </p:nvSpPr>
        <p:spPr>
          <a:xfrm>
            <a:off x="8229600" y="3630168"/>
            <a:ext cx="3108960" cy="320040"/>
          </a:xfrm>
          <a:prstGeom prst="rect">
            <a:avLst/>
          </a:prstGeom>
          <a:noFill/>
        </p:spPr>
        <p:txBody>
          <a:bodyPr wrap="square">
            <a:spAutoFit/>
          </a:bodyPr>
          <a:lstStyle/>
          <a:p>
            <a:pPr algn="l">
              <a:defRPr sz="1100" b="1">
                <a:solidFill>
                  <a:srgbClr val="C084FC"/>
                </a:solidFill>
                <a:latin typeface="Segoe UI"/>
              </a:defRPr>
            </a:pPr>
            <a:r>
              <a:t>📦 المُخرَج: backend/sentiment.py (دالة sentiment_risk)</a:t>
            </a:r>
          </a:p>
        </p:txBody>
      </p:sp>
      <p:sp>
        <p:nvSpPr>
          <p:cNvPr id="24" name="Rectangle 23"/>
          <p:cNvSpPr/>
          <p:nvPr/>
        </p:nvSpPr>
        <p:spPr>
          <a:xfrm>
            <a:off x="731520" y="4261104"/>
            <a:ext cx="10698480" cy="658368"/>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261104"/>
            <a:ext cx="106984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25696"/>
            <a:ext cx="1828800" cy="320040"/>
          </a:xfrm>
          <a:prstGeom prst="rect">
            <a:avLst/>
          </a:prstGeom>
          <a:noFill/>
        </p:spPr>
        <p:txBody>
          <a:bodyPr wrap="square">
            <a:spAutoFit/>
          </a:bodyPr>
          <a:lstStyle/>
          <a:p>
            <a:pPr algn="l">
              <a:defRPr sz="1300" b="1">
                <a:solidFill>
                  <a:srgbClr val="38BDF8"/>
                </a:solidFill>
                <a:latin typeface="Segoe UI"/>
              </a:defRPr>
            </a:pPr>
            <a:r>
              <a:t>Eng. Ahmed</a:t>
            </a:r>
          </a:p>
        </p:txBody>
      </p:sp>
      <p:sp>
        <p:nvSpPr>
          <p:cNvPr id="27" name="TextBox 26"/>
          <p:cNvSpPr txBox="1"/>
          <p:nvPr/>
        </p:nvSpPr>
        <p:spPr>
          <a:xfrm>
            <a:off x="2834640" y="4425696"/>
            <a:ext cx="2651760" cy="320040"/>
          </a:xfrm>
          <a:prstGeom prst="rect">
            <a:avLst/>
          </a:prstGeom>
          <a:noFill/>
        </p:spPr>
        <p:txBody>
          <a:bodyPr wrap="square">
            <a:spAutoFit/>
          </a:bodyPr>
          <a:lstStyle/>
          <a:p>
            <a:pPr algn="l">
              <a:defRPr sz="1100" b="0">
                <a:solidFill>
                  <a:srgbClr val="94A3B8"/>
                </a:solidFill>
                <a:latin typeface="Segoe UI"/>
              </a:defRPr>
            </a:pPr>
            <a:r>
              <a:t>📥 المدخل: الموديلات + الداتا + دالة المشاعر</a:t>
            </a:r>
          </a:p>
        </p:txBody>
      </p:sp>
      <p:sp>
        <p:nvSpPr>
          <p:cNvPr id="28" name="TextBox 27"/>
          <p:cNvSpPr txBox="1"/>
          <p:nvPr/>
        </p:nvSpPr>
        <p:spPr>
          <a:xfrm>
            <a:off x="5577840" y="4425696"/>
            <a:ext cx="2560320" cy="320040"/>
          </a:xfrm>
          <a:prstGeom prst="rect">
            <a:avLst/>
          </a:prstGeom>
          <a:noFill/>
        </p:spPr>
        <p:txBody>
          <a:bodyPr wrap="square">
            <a:spAutoFit/>
          </a:bodyPr>
          <a:lstStyle/>
          <a:p>
            <a:pPr algn="l">
              <a:defRPr sz="1100" b="0">
                <a:solidFill>
                  <a:srgbClr val="FFFFFF"/>
                </a:solidFill>
                <a:latin typeface="Segoe UI"/>
              </a:defRPr>
            </a:pPr>
            <a:r>
              <a:t>⚙️ الأداة: FastAPI + PostgreSQL + SHAP + Bcrypt</a:t>
            </a:r>
          </a:p>
        </p:txBody>
      </p:sp>
      <p:sp>
        <p:nvSpPr>
          <p:cNvPr id="29" name="TextBox 28"/>
          <p:cNvSpPr txBox="1"/>
          <p:nvPr/>
        </p:nvSpPr>
        <p:spPr>
          <a:xfrm>
            <a:off x="8229600" y="4425696"/>
            <a:ext cx="3108960" cy="320040"/>
          </a:xfrm>
          <a:prstGeom prst="rect">
            <a:avLst/>
          </a:prstGeom>
          <a:noFill/>
        </p:spPr>
        <p:txBody>
          <a:bodyPr wrap="square">
            <a:spAutoFit/>
          </a:bodyPr>
          <a:lstStyle/>
          <a:p>
            <a:pPr algn="l">
              <a:defRPr sz="1100" b="1">
                <a:solidFill>
                  <a:srgbClr val="38BDF8"/>
                </a:solidFill>
                <a:latin typeface="Segoe UI"/>
              </a:defRPr>
            </a:pPr>
            <a:r>
              <a:t>📦 المُخرَج: 7 Endpoints REST API + محرك الخطر 60/40</a:t>
            </a:r>
          </a:p>
        </p:txBody>
      </p:sp>
      <p:sp>
        <p:nvSpPr>
          <p:cNvPr id="30" name="Rectangle 29"/>
          <p:cNvSpPr/>
          <p:nvPr/>
        </p:nvSpPr>
        <p:spPr>
          <a:xfrm>
            <a:off x="731520" y="5056631"/>
            <a:ext cx="10698480" cy="658368"/>
          </a:xfrm>
          <a:prstGeom prst="rect">
            <a:avLst/>
          </a:prstGeom>
          <a:solidFill>
            <a:srgbClr val="13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5056631"/>
            <a:ext cx="1069848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221223"/>
            <a:ext cx="1828800" cy="320040"/>
          </a:xfrm>
          <a:prstGeom prst="rect">
            <a:avLst/>
          </a:prstGeom>
          <a:noFill/>
        </p:spPr>
        <p:txBody>
          <a:bodyPr wrap="square">
            <a:spAutoFit/>
          </a:bodyPr>
          <a:lstStyle/>
          <a:p>
            <a:pPr algn="l">
              <a:defRPr sz="1300" b="1">
                <a:solidFill>
                  <a:srgbClr val="34D399"/>
                </a:solidFill>
                <a:latin typeface="Segoe UI"/>
              </a:defRPr>
            </a:pPr>
            <a:r>
              <a:t>Eng. Noury</a:t>
            </a:r>
          </a:p>
        </p:txBody>
      </p:sp>
      <p:sp>
        <p:nvSpPr>
          <p:cNvPr id="33" name="TextBox 32"/>
          <p:cNvSpPr txBox="1"/>
          <p:nvPr/>
        </p:nvSpPr>
        <p:spPr>
          <a:xfrm>
            <a:off x="2834640" y="5221223"/>
            <a:ext cx="2651760" cy="320040"/>
          </a:xfrm>
          <a:prstGeom prst="rect">
            <a:avLst/>
          </a:prstGeom>
          <a:noFill/>
        </p:spPr>
        <p:txBody>
          <a:bodyPr wrap="square">
            <a:spAutoFit/>
          </a:bodyPr>
          <a:lstStyle/>
          <a:p>
            <a:pPr algn="l">
              <a:defRPr sz="1100" b="0">
                <a:solidFill>
                  <a:srgbClr val="94A3B8"/>
                </a:solidFill>
                <a:latin typeface="Segoe UI"/>
              </a:defRPr>
            </a:pPr>
            <a:r>
              <a:t>📥 المدخل: واجهات الـ REST API &amp; Swagger</a:t>
            </a:r>
          </a:p>
        </p:txBody>
      </p:sp>
      <p:sp>
        <p:nvSpPr>
          <p:cNvPr id="34" name="TextBox 33"/>
          <p:cNvSpPr txBox="1"/>
          <p:nvPr/>
        </p:nvSpPr>
        <p:spPr>
          <a:xfrm>
            <a:off x="5577840" y="5221223"/>
            <a:ext cx="2560320" cy="320040"/>
          </a:xfrm>
          <a:prstGeom prst="rect">
            <a:avLst/>
          </a:prstGeom>
          <a:noFill/>
        </p:spPr>
        <p:txBody>
          <a:bodyPr wrap="square">
            <a:spAutoFit/>
          </a:bodyPr>
          <a:lstStyle/>
          <a:p>
            <a:pPr algn="l">
              <a:defRPr sz="1100" b="0">
                <a:solidFill>
                  <a:srgbClr val="FFFFFF"/>
                </a:solidFill>
                <a:latin typeface="Segoe UI"/>
              </a:defRPr>
            </a:pPr>
            <a:r>
              <a:t>⚙️ الأداة: HTML5 + JS + CSS3 + Chart.js</a:t>
            </a:r>
          </a:p>
        </p:txBody>
      </p:sp>
      <p:sp>
        <p:nvSpPr>
          <p:cNvPr id="35" name="TextBox 34"/>
          <p:cNvSpPr txBox="1"/>
          <p:nvPr/>
        </p:nvSpPr>
        <p:spPr>
          <a:xfrm>
            <a:off x="8229600" y="5221223"/>
            <a:ext cx="3108960" cy="320040"/>
          </a:xfrm>
          <a:prstGeom prst="rect">
            <a:avLst/>
          </a:prstGeom>
          <a:noFill/>
        </p:spPr>
        <p:txBody>
          <a:bodyPr wrap="square">
            <a:spAutoFit/>
          </a:bodyPr>
          <a:lstStyle/>
          <a:p>
            <a:pPr algn="l">
              <a:defRPr sz="1100" b="1">
                <a:solidFill>
                  <a:srgbClr val="34D399"/>
                </a:solidFill>
                <a:latin typeface="Segoe UI"/>
              </a:defRPr>
            </a:pPr>
            <a:r>
              <a:t>📦 المُخرَج: Dashboard الإدارة + بوابة الموظف + التعريب</a:t>
            </a:r>
          </a:p>
        </p:txBody>
      </p:sp>
      <p:sp>
        <p:nvSpPr>
          <p:cNvPr id="36" name="TextBox 35"/>
          <p:cNvSpPr txBox="1"/>
          <p:nvPr/>
        </p:nvSpPr>
        <p:spPr>
          <a:xfrm>
            <a:off x="731520" y="6035040"/>
            <a:ext cx="10698480" cy="365760"/>
          </a:xfrm>
          <a:prstGeom prst="rect">
            <a:avLst/>
          </a:prstGeom>
          <a:noFill/>
        </p:spPr>
        <p:txBody>
          <a:bodyPr wrap="square">
            <a:spAutoFit/>
          </a:bodyPr>
          <a:lstStyle/>
          <a:p>
            <a:pPr algn="l">
              <a:defRPr sz="1200" b="1">
                <a:solidFill>
                  <a:srgbClr val="FBBF24"/>
                </a:solidFill>
                <a:latin typeface="Segoe UI"/>
              </a:defRPr>
            </a:pPr>
            <a:r>
              <a:t>📌 ملحوظة: هذا الجدول يثبت للدكتور أن المشروع لم يُبْنَ عشوائياً، بل كمعمارية برمجية هندسية واضحة ومترابطة (Modular Architecture).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LIVE DEMO GUIDE</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خريطة تقديم الديمو الحي أمام الدكتور (Step-by-Step Live Demo)</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الخطوات العملية لاستعراض المشروع مباشرة على الشاشة لإبهار اللجنة</a:t>
            </a:r>
          </a:p>
        </p:txBody>
      </p:sp>
      <p:sp>
        <p:nvSpPr>
          <p:cNvPr id="6" name="Rectangle 5"/>
          <p:cNvSpPr/>
          <p:nvPr/>
        </p:nvSpPr>
        <p:spPr>
          <a:xfrm>
            <a:off x="731520" y="192024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57400"/>
            <a:ext cx="3200400" cy="320040"/>
          </a:xfrm>
          <a:prstGeom prst="rect">
            <a:avLst/>
          </a:prstGeom>
          <a:noFill/>
        </p:spPr>
        <p:txBody>
          <a:bodyPr wrap="square">
            <a:spAutoFit/>
          </a:bodyPr>
          <a:lstStyle/>
          <a:p>
            <a:pPr algn="l">
              <a:defRPr sz="1300" b="1">
                <a:solidFill>
                  <a:srgbClr val="38BDF8"/>
                </a:solidFill>
                <a:latin typeface="Segoe UI"/>
              </a:defRPr>
            </a:pPr>
            <a:r>
              <a:t>الخطوة 1: تشغيل السيرفر</a:t>
            </a:r>
          </a:p>
        </p:txBody>
      </p:sp>
      <p:sp>
        <p:nvSpPr>
          <p:cNvPr id="9" name="TextBox 8"/>
          <p:cNvSpPr txBox="1"/>
          <p:nvPr/>
        </p:nvSpPr>
        <p:spPr>
          <a:xfrm>
            <a:off x="868680" y="2423160"/>
            <a:ext cx="3200400" cy="1051560"/>
          </a:xfrm>
          <a:prstGeom prst="rect">
            <a:avLst/>
          </a:prstGeom>
          <a:noFill/>
        </p:spPr>
        <p:txBody>
          <a:bodyPr wrap="square">
            <a:spAutoFit/>
          </a:bodyPr>
          <a:lstStyle/>
          <a:p>
            <a:pPr algn="l">
              <a:defRPr sz="1100" b="0">
                <a:solidFill>
                  <a:srgbClr val="FFFFFF"/>
                </a:solidFill>
                <a:latin typeface="Segoe UI"/>
              </a:defRPr>
            </a:pPr>
            <a:r>
              <a:t>فتح التيرمينال وتشغيل:</a:t>
            </a:r>
            <a:br/>
            <a:r>
              <a:t>python -m uvicorn backend.main:app --reload</a:t>
            </a:r>
            <a:br/>
            <a:r>
              <a:t>وعرض تحميل موديل Random Forest وموديل DistilBERT بنجاح.</a:t>
            </a:r>
          </a:p>
        </p:txBody>
      </p:sp>
      <p:sp>
        <p:nvSpPr>
          <p:cNvPr id="10" name="Rectangle 9"/>
          <p:cNvSpPr/>
          <p:nvPr/>
        </p:nvSpPr>
        <p:spPr>
          <a:xfrm>
            <a:off x="4343400" y="192024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920240"/>
            <a:ext cx="347472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057400"/>
            <a:ext cx="3200400" cy="320040"/>
          </a:xfrm>
          <a:prstGeom prst="rect">
            <a:avLst/>
          </a:prstGeom>
          <a:noFill/>
        </p:spPr>
        <p:txBody>
          <a:bodyPr wrap="square">
            <a:spAutoFit/>
          </a:bodyPr>
          <a:lstStyle/>
          <a:p>
            <a:pPr algn="l">
              <a:defRPr sz="1300" b="1">
                <a:solidFill>
                  <a:srgbClr val="C084FC"/>
                </a:solidFill>
                <a:latin typeface="Segoe UI"/>
              </a:defRPr>
            </a:pPr>
            <a:r>
              <a:t>الخطوة 2: استعراض Swagger UI</a:t>
            </a:r>
          </a:p>
        </p:txBody>
      </p:sp>
      <p:sp>
        <p:nvSpPr>
          <p:cNvPr id="13" name="TextBox 12"/>
          <p:cNvSpPr txBox="1"/>
          <p:nvPr/>
        </p:nvSpPr>
        <p:spPr>
          <a:xfrm>
            <a:off x="4480560" y="2423160"/>
            <a:ext cx="3200400" cy="1051560"/>
          </a:xfrm>
          <a:prstGeom prst="rect">
            <a:avLst/>
          </a:prstGeom>
          <a:noFill/>
        </p:spPr>
        <p:txBody>
          <a:bodyPr wrap="square">
            <a:spAutoFit/>
          </a:bodyPr>
          <a:lstStyle/>
          <a:p>
            <a:pPr algn="l">
              <a:defRPr sz="1100" b="0">
                <a:solidFill>
                  <a:srgbClr val="FFFFFF"/>
                </a:solidFill>
                <a:latin typeface="Segoe UI"/>
              </a:defRPr>
            </a:pPr>
            <a:r>
              <a:t>فتح الرابط: http://localhost:8000/docs</a:t>
            </a:r>
            <a:br/>
            <a:r>
              <a:t>لإظهار توثيق الـ APIs التفاعلي والـ Endpoints المحمية، وهذا يثبت عمق الباك إند.</a:t>
            </a:r>
          </a:p>
        </p:txBody>
      </p:sp>
      <p:sp>
        <p:nvSpPr>
          <p:cNvPr id="14" name="Rectangle 13"/>
          <p:cNvSpPr/>
          <p:nvPr/>
        </p:nvSpPr>
        <p:spPr>
          <a:xfrm>
            <a:off x="7955279" y="192024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1920240"/>
            <a:ext cx="3474720" cy="7315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2057400"/>
            <a:ext cx="3200400" cy="320040"/>
          </a:xfrm>
          <a:prstGeom prst="rect">
            <a:avLst/>
          </a:prstGeom>
          <a:noFill/>
        </p:spPr>
        <p:txBody>
          <a:bodyPr wrap="square">
            <a:spAutoFit/>
          </a:bodyPr>
          <a:lstStyle/>
          <a:p>
            <a:pPr algn="l">
              <a:defRPr sz="1300" b="1">
                <a:solidFill>
                  <a:srgbClr val="FB923C"/>
                </a:solidFill>
                <a:latin typeface="Segoe UI"/>
              </a:defRPr>
            </a:pPr>
            <a:r>
              <a:t>الخطوة 3: لوحة المدير (Admin)</a:t>
            </a:r>
          </a:p>
        </p:txBody>
      </p:sp>
      <p:sp>
        <p:nvSpPr>
          <p:cNvPr id="17" name="TextBox 16"/>
          <p:cNvSpPr txBox="1"/>
          <p:nvPr/>
        </p:nvSpPr>
        <p:spPr>
          <a:xfrm>
            <a:off x="8092440" y="2423160"/>
            <a:ext cx="3200400" cy="1051560"/>
          </a:xfrm>
          <a:prstGeom prst="rect">
            <a:avLst/>
          </a:prstGeom>
          <a:noFill/>
        </p:spPr>
        <p:txBody>
          <a:bodyPr wrap="square">
            <a:spAutoFit/>
          </a:bodyPr>
          <a:lstStyle/>
          <a:p>
            <a:pPr algn="l">
              <a:defRPr sz="1100" b="0">
                <a:solidFill>
                  <a:srgbClr val="FFFFFF"/>
                </a:solidFill>
                <a:latin typeface="Segoe UI"/>
              </a:defRPr>
            </a:pPr>
            <a:r>
              <a:t>تسجيل الدخول وعرض قائمة الـ 50 موظف، ومخططات توزيع نسب الخطورة (Chart.js) ومعدلات إجهاد الأقسام.</a:t>
            </a:r>
          </a:p>
        </p:txBody>
      </p:sp>
      <p:sp>
        <p:nvSpPr>
          <p:cNvPr id="18" name="Rectangle 17"/>
          <p:cNvSpPr/>
          <p:nvPr/>
        </p:nvSpPr>
        <p:spPr>
          <a:xfrm>
            <a:off x="731520" y="388620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886200"/>
            <a:ext cx="34747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23360"/>
            <a:ext cx="3200400" cy="320040"/>
          </a:xfrm>
          <a:prstGeom prst="rect">
            <a:avLst/>
          </a:prstGeom>
          <a:noFill/>
        </p:spPr>
        <p:txBody>
          <a:bodyPr wrap="square">
            <a:spAutoFit/>
          </a:bodyPr>
          <a:lstStyle/>
          <a:p>
            <a:pPr algn="l">
              <a:defRPr sz="1300" b="1">
                <a:solidFill>
                  <a:srgbClr val="34D399"/>
                </a:solidFill>
                <a:latin typeface="Segoe UI"/>
              </a:defRPr>
            </a:pPr>
            <a:r>
              <a:t>الخطوة 4: بوابة الموظف وتعديل الحالة</a:t>
            </a:r>
          </a:p>
        </p:txBody>
      </p:sp>
      <p:sp>
        <p:nvSpPr>
          <p:cNvPr id="21" name="TextBox 20"/>
          <p:cNvSpPr txBox="1"/>
          <p:nvPr/>
        </p:nvSpPr>
        <p:spPr>
          <a:xfrm>
            <a:off x="868680" y="4389120"/>
            <a:ext cx="3200400" cy="1051560"/>
          </a:xfrm>
          <a:prstGeom prst="rect">
            <a:avLst/>
          </a:prstGeom>
          <a:noFill/>
        </p:spPr>
        <p:txBody>
          <a:bodyPr wrap="square">
            <a:spAutoFit/>
          </a:bodyPr>
          <a:lstStyle/>
          <a:p>
            <a:pPr algn="l">
              <a:defRPr sz="1100" b="0">
                <a:solidFill>
                  <a:srgbClr val="FFFFFF"/>
                </a:solidFill>
                <a:latin typeface="Segoe UI"/>
              </a:defRPr>
            </a:pPr>
            <a:r>
              <a:t>الدخول كموظف وتوضيح ميزة إعادة التقييم الذاتي: إدخال ساعات عمل جديدة وشكوى جديدة ومشاهدة الخطر يتغير فورياً.</a:t>
            </a:r>
          </a:p>
        </p:txBody>
      </p:sp>
      <p:sp>
        <p:nvSpPr>
          <p:cNvPr id="22" name="Rectangle 21"/>
          <p:cNvSpPr/>
          <p:nvPr/>
        </p:nvSpPr>
        <p:spPr>
          <a:xfrm>
            <a:off x="4343400" y="388620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886200"/>
            <a:ext cx="347472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023360"/>
            <a:ext cx="3200400" cy="320040"/>
          </a:xfrm>
          <a:prstGeom prst="rect">
            <a:avLst/>
          </a:prstGeom>
          <a:noFill/>
        </p:spPr>
        <p:txBody>
          <a:bodyPr wrap="square">
            <a:spAutoFit/>
          </a:bodyPr>
          <a:lstStyle/>
          <a:p>
            <a:pPr algn="l">
              <a:defRPr sz="1300" b="1">
                <a:solidFill>
                  <a:srgbClr val="FBBF24"/>
                </a:solidFill>
                <a:latin typeface="Segoe UI"/>
              </a:defRPr>
            </a:pPr>
            <a:r>
              <a:t>الخطوة 5: شرح الذكاء الاصطناعي (SHAP)</a:t>
            </a:r>
          </a:p>
        </p:txBody>
      </p:sp>
      <p:sp>
        <p:nvSpPr>
          <p:cNvPr id="25" name="TextBox 24"/>
          <p:cNvSpPr txBox="1"/>
          <p:nvPr/>
        </p:nvSpPr>
        <p:spPr>
          <a:xfrm>
            <a:off x="4480560" y="4389120"/>
            <a:ext cx="3200400" cy="1051560"/>
          </a:xfrm>
          <a:prstGeom prst="rect">
            <a:avLst/>
          </a:prstGeom>
          <a:noFill/>
        </p:spPr>
        <p:txBody>
          <a:bodyPr wrap="square">
            <a:spAutoFit/>
          </a:bodyPr>
          <a:lstStyle/>
          <a:p>
            <a:pPr algn="l">
              <a:defRPr sz="1100" b="0">
                <a:solidFill>
                  <a:srgbClr val="FFFFFF"/>
                </a:solidFill>
                <a:latin typeface="Segoe UI"/>
              </a:defRPr>
            </a:pPr>
            <a:r>
              <a:t>إظهار كارت التفسير الذي يوضح للمدير السبب الدقيق لارتفاع الخطر (مثلاً: +35% بسبب الساعات الإضافية).</a:t>
            </a:r>
          </a:p>
        </p:txBody>
      </p:sp>
      <p:sp>
        <p:nvSpPr>
          <p:cNvPr id="26" name="Rectangle 25"/>
          <p:cNvSpPr/>
          <p:nvPr/>
        </p:nvSpPr>
        <p:spPr>
          <a:xfrm>
            <a:off x="7955279" y="3886200"/>
            <a:ext cx="3474720" cy="16459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55279" y="388620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92440" y="4023360"/>
            <a:ext cx="3200400" cy="320040"/>
          </a:xfrm>
          <a:prstGeom prst="rect">
            <a:avLst/>
          </a:prstGeom>
          <a:noFill/>
        </p:spPr>
        <p:txBody>
          <a:bodyPr wrap="square">
            <a:spAutoFit/>
          </a:bodyPr>
          <a:lstStyle/>
          <a:p>
            <a:pPr algn="l">
              <a:defRPr sz="1300" b="1">
                <a:solidFill>
                  <a:srgbClr val="38BDF8"/>
                </a:solidFill>
                <a:latin typeface="Segoe UI"/>
              </a:defRPr>
            </a:pPr>
            <a:r>
              <a:t>الخطوة 6: التبديل للغة العربية</a:t>
            </a:r>
          </a:p>
        </p:txBody>
      </p:sp>
      <p:sp>
        <p:nvSpPr>
          <p:cNvPr id="29" name="TextBox 28"/>
          <p:cNvSpPr txBox="1"/>
          <p:nvPr/>
        </p:nvSpPr>
        <p:spPr>
          <a:xfrm>
            <a:off x="8092440" y="4389120"/>
            <a:ext cx="3200400" cy="1051560"/>
          </a:xfrm>
          <a:prstGeom prst="rect">
            <a:avLst/>
          </a:prstGeom>
          <a:noFill/>
        </p:spPr>
        <p:txBody>
          <a:bodyPr wrap="square">
            <a:spAutoFit/>
          </a:bodyPr>
          <a:lstStyle/>
          <a:p>
            <a:pPr algn="l">
              <a:defRPr sz="1100" b="0">
                <a:solidFill>
                  <a:srgbClr val="FFFFFF"/>
                </a:solidFill>
                <a:latin typeface="Segoe UI"/>
              </a:defRPr>
            </a:pPr>
            <a:r>
              <a:t>الضغط على زر تغيير اللغة لإظهار جاهزية النظام للاستخدام في الشركات والمؤسسات العربية.</a:t>
            </a:r>
          </a:p>
        </p:txBody>
      </p:sp>
      <p:sp>
        <p:nvSpPr>
          <p:cNvPr id="30" name="TextBox 29"/>
          <p:cNvSpPr txBox="1"/>
          <p:nvPr/>
        </p:nvSpPr>
        <p:spPr>
          <a:xfrm>
            <a:off x="731520" y="6035040"/>
            <a:ext cx="10698480" cy="365760"/>
          </a:xfrm>
          <a:prstGeom prst="rect">
            <a:avLst/>
          </a:prstGeom>
          <a:noFill/>
        </p:spPr>
        <p:txBody>
          <a:bodyPr wrap="square">
            <a:spAutoFit/>
          </a:bodyPr>
          <a:lstStyle/>
          <a:p>
            <a:pPr algn="l">
              <a:defRPr sz="1200" b="1">
                <a:solidFill>
                  <a:srgbClr val="FFFFFF"/>
                </a:solidFill>
                <a:latin typeface="Segoe UI"/>
              </a:defRPr>
            </a:pPr>
            <a:r>
              <a:t>🎯 سر النجاح في المناقشة: الترتيب الواثق في عرض الشاشات يجعل الدكتور يركز في الإبهار التقني للمشروع.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731520" y="411480"/>
            <a:ext cx="2560320" cy="320040"/>
          </a:xfrm>
          <a:prstGeom prst="rect">
            <a:avLst/>
          </a:prstGeom>
          <a:solidFill>
            <a:srgbClr val="131D3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38912"/>
            <a:ext cx="2377440" cy="274320"/>
          </a:xfrm>
          <a:prstGeom prst="rect">
            <a:avLst/>
          </a:prstGeom>
          <a:noFill/>
        </p:spPr>
        <p:txBody>
          <a:bodyPr wrap="square">
            <a:spAutoFit/>
          </a:bodyPr>
          <a:lstStyle/>
          <a:p>
            <a:pPr algn="ctr">
              <a:defRPr sz="1100" b="1">
                <a:solidFill>
                  <a:srgbClr val="38BDF8"/>
                </a:solidFill>
                <a:latin typeface="Segoe UI"/>
              </a:defRPr>
            </a:pPr>
            <a:r>
              <a:t>TRICKY QUESTIONS &amp; DEFENSE</a:t>
            </a:r>
          </a:p>
        </p:txBody>
      </p:sp>
      <p:sp>
        <p:nvSpPr>
          <p:cNvPr id="4" name="TextBox 3"/>
          <p:cNvSpPr txBox="1"/>
          <p:nvPr/>
        </p:nvSpPr>
        <p:spPr>
          <a:xfrm>
            <a:off x="731520" y="804672"/>
            <a:ext cx="10515600" cy="502920"/>
          </a:xfrm>
          <a:prstGeom prst="rect">
            <a:avLst/>
          </a:prstGeom>
          <a:noFill/>
        </p:spPr>
        <p:txBody>
          <a:bodyPr wrap="square">
            <a:spAutoFit/>
          </a:bodyPr>
          <a:lstStyle/>
          <a:p>
            <a:pPr algn="l">
              <a:defRPr sz="2400" b="1">
                <a:solidFill>
                  <a:srgbClr val="FFFFFF"/>
                </a:solidFill>
                <a:latin typeface="Segoe UI"/>
              </a:defRPr>
            </a:pPr>
            <a:r>
              <a:t>أهم 4 أسئلة تريكات من الدكتور والرد الهندسي القاطع</a:t>
            </a:r>
          </a:p>
        </p:txBody>
      </p:sp>
      <p:sp>
        <p:nvSpPr>
          <p:cNvPr id="5" name="TextBox 4"/>
          <p:cNvSpPr txBox="1"/>
          <p:nvPr/>
        </p:nvSpPr>
        <p:spPr>
          <a:xfrm>
            <a:off x="731520" y="1325880"/>
            <a:ext cx="10515600" cy="347472"/>
          </a:xfrm>
          <a:prstGeom prst="rect">
            <a:avLst/>
          </a:prstGeom>
          <a:noFill/>
        </p:spPr>
        <p:txBody>
          <a:bodyPr wrap="square">
            <a:spAutoFit/>
          </a:bodyPr>
          <a:lstStyle/>
          <a:p>
            <a:pPr algn="l">
              <a:defRPr sz="1300" b="0">
                <a:solidFill>
                  <a:srgbClr val="94A3B8"/>
                </a:solidFill>
                <a:latin typeface="Segoe UI"/>
              </a:defRPr>
            </a:pPr>
            <a:r>
              <a:t>تجهيز الفريق لأصعب الأسئلة النظرية والعملية التي قد تطرحها لجنة المناقشة</a:t>
            </a:r>
          </a:p>
        </p:txBody>
      </p:sp>
      <p:sp>
        <p:nvSpPr>
          <p:cNvPr id="6" name="Rectangle 5"/>
          <p:cNvSpPr/>
          <p:nvPr/>
        </p:nvSpPr>
        <p:spPr>
          <a:xfrm>
            <a:off x="731520" y="1920240"/>
            <a:ext cx="5257800" cy="17830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525780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57400"/>
            <a:ext cx="4983480" cy="411480"/>
          </a:xfrm>
          <a:prstGeom prst="rect">
            <a:avLst/>
          </a:prstGeom>
          <a:noFill/>
        </p:spPr>
        <p:txBody>
          <a:bodyPr wrap="square">
            <a:spAutoFit/>
          </a:bodyPr>
          <a:lstStyle/>
          <a:p>
            <a:pPr algn="l">
              <a:defRPr sz="1200" b="1">
                <a:solidFill>
                  <a:srgbClr val="FBBF24"/>
                </a:solidFill>
                <a:latin typeface="Segoe UI"/>
              </a:defRPr>
            </a:pPr>
            <a:r>
              <a:t>س1: ليه ما استخدمتوش Deep Learning كامل (Neural Network) للأرقام؟</a:t>
            </a:r>
          </a:p>
        </p:txBody>
      </p:sp>
      <p:sp>
        <p:nvSpPr>
          <p:cNvPr id="9" name="TextBox 8"/>
          <p:cNvSpPr txBox="1"/>
          <p:nvPr/>
        </p:nvSpPr>
        <p:spPr>
          <a:xfrm>
            <a:off x="868680" y="2514600"/>
            <a:ext cx="4983480" cy="1097280"/>
          </a:xfrm>
          <a:prstGeom prst="rect">
            <a:avLst/>
          </a:prstGeom>
          <a:noFill/>
        </p:spPr>
        <p:txBody>
          <a:bodyPr wrap="square">
            <a:spAutoFit/>
          </a:bodyPr>
          <a:lstStyle/>
          <a:p>
            <a:pPr algn="l">
              <a:defRPr sz="1100" b="0">
                <a:solidFill>
                  <a:srgbClr val="FFFFFF"/>
                </a:solidFill>
                <a:latin typeface="Segoe UI"/>
              </a:defRPr>
            </a:pPr>
            <a:r>
              <a:t>ج: لأن البيانات المجدولة (Tabular Data) أثبتت الدراسات أن Random Forest و XGBoost يتفوقان فيها على الشبكات العصبية، كما أن Random Forest لا يحتاج ملايين السجلات ولا يعاني من مشاكل التدريب المعقدة.</a:t>
            </a:r>
          </a:p>
        </p:txBody>
      </p:sp>
      <p:sp>
        <p:nvSpPr>
          <p:cNvPr id="10" name="Rectangle 9"/>
          <p:cNvSpPr/>
          <p:nvPr/>
        </p:nvSpPr>
        <p:spPr>
          <a:xfrm>
            <a:off x="6172200" y="1920240"/>
            <a:ext cx="5257800" cy="17830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920240"/>
            <a:ext cx="525780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057400"/>
            <a:ext cx="4983480" cy="411480"/>
          </a:xfrm>
          <a:prstGeom prst="rect">
            <a:avLst/>
          </a:prstGeom>
          <a:noFill/>
        </p:spPr>
        <p:txBody>
          <a:bodyPr wrap="square">
            <a:spAutoFit/>
          </a:bodyPr>
          <a:lstStyle/>
          <a:p>
            <a:pPr algn="l">
              <a:defRPr sz="1200" b="1">
                <a:solidFill>
                  <a:srgbClr val="C084FC"/>
                </a:solidFill>
                <a:latin typeface="Segoe UI"/>
              </a:defRPr>
            </a:pPr>
            <a:r>
              <a:t>س2: ما الخطر إذا اعتمدنا على الأرقام فقط وتجاهلنا المشاعر؟</a:t>
            </a:r>
          </a:p>
        </p:txBody>
      </p:sp>
      <p:sp>
        <p:nvSpPr>
          <p:cNvPr id="13" name="TextBox 12"/>
          <p:cNvSpPr txBox="1"/>
          <p:nvPr/>
        </p:nvSpPr>
        <p:spPr>
          <a:xfrm>
            <a:off x="6309360" y="2514600"/>
            <a:ext cx="4983480" cy="1097280"/>
          </a:xfrm>
          <a:prstGeom prst="rect">
            <a:avLst/>
          </a:prstGeom>
          <a:noFill/>
        </p:spPr>
        <p:txBody>
          <a:bodyPr wrap="square">
            <a:spAutoFit/>
          </a:bodyPr>
          <a:lstStyle/>
          <a:p>
            <a:pPr algn="l">
              <a:defRPr sz="1100" b="0">
                <a:solidFill>
                  <a:srgbClr val="FFFFFF"/>
                </a:solidFill>
                <a:latin typeface="Segoe UI"/>
              </a:defRPr>
            </a:pPr>
            <a:r>
              <a:t>ج: موظف قد يعمل 40 ساعة فقط لكنه يتعرض لضغط نفسي شديد أو مهام غير واضحة؛ الأرقام ستعطيه Low Risk بينما هو على حافة الاستقالة! دمج الـ NLP يكشف هذا الخطر الخفي.</a:t>
            </a:r>
          </a:p>
        </p:txBody>
      </p:sp>
      <p:sp>
        <p:nvSpPr>
          <p:cNvPr id="14" name="Rectangle 13"/>
          <p:cNvSpPr/>
          <p:nvPr/>
        </p:nvSpPr>
        <p:spPr>
          <a:xfrm>
            <a:off x="731520" y="3886200"/>
            <a:ext cx="5257800" cy="17830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886200"/>
            <a:ext cx="5257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4983480" cy="411480"/>
          </a:xfrm>
          <a:prstGeom prst="rect">
            <a:avLst/>
          </a:prstGeom>
          <a:noFill/>
        </p:spPr>
        <p:txBody>
          <a:bodyPr wrap="square">
            <a:spAutoFit/>
          </a:bodyPr>
          <a:lstStyle/>
          <a:p>
            <a:pPr algn="l">
              <a:defRPr sz="1200" b="1">
                <a:solidFill>
                  <a:srgbClr val="38BDF8"/>
                </a:solidFill>
                <a:latin typeface="Segoe UI"/>
              </a:defRPr>
            </a:pPr>
            <a:r>
              <a:t>س3: ما الفارق بين Random Forest و SHAP؟</a:t>
            </a:r>
          </a:p>
        </p:txBody>
      </p:sp>
      <p:sp>
        <p:nvSpPr>
          <p:cNvPr id="17" name="TextBox 16"/>
          <p:cNvSpPr txBox="1"/>
          <p:nvPr/>
        </p:nvSpPr>
        <p:spPr>
          <a:xfrm>
            <a:off x="868680" y="4480560"/>
            <a:ext cx="4983480" cy="1097280"/>
          </a:xfrm>
          <a:prstGeom prst="rect">
            <a:avLst/>
          </a:prstGeom>
          <a:noFill/>
        </p:spPr>
        <p:txBody>
          <a:bodyPr wrap="square">
            <a:spAutoFit/>
          </a:bodyPr>
          <a:lstStyle/>
          <a:p>
            <a:pPr algn="l">
              <a:defRPr sz="1100" b="0">
                <a:solidFill>
                  <a:srgbClr val="FFFFFF"/>
                </a:solidFill>
                <a:latin typeface="Segoe UI"/>
              </a:defRPr>
            </a:pPr>
            <a:r>
              <a:t>ج: Random Forest يتنبأ بنسبة الخطر (Black-box تقريباً)، أما SHAP فيشرح 'لماذا' اتخذ الموديل هذا القرار لكل موظف على حدة، وهو شرط أساسي في أنظمة الـ Explainable AI (XAI) المؤسسية.</a:t>
            </a:r>
          </a:p>
        </p:txBody>
      </p:sp>
      <p:sp>
        <p:nvSpPr>
          <p:cNvPr id="18" name="Rectangle 17"/>
          <p:cNvSpPr/>
          <p:nvPr/>
        </p:nvSpPr>
        <p:spPr>
          <a:xfrm>
            <a:off x="6172200" y="3886200"/>
            <a:ext cx="5257800" cy="178308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886200"/>
            <a:ext cx="52578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023360"/>
            <a:ext cx="4983480" cy="411480"/>
          </a:xfrm>
          <a:prstGeom prst="rect">
            <a:avLst/>
          </a:prstGeom>
          <a:noFill/>
        </p:spPr>
        <p:txBody>
          <a:bodyPr wrap="square">
            <a:spAutoFit/>
          </a:bodyPr>
          <a:lstStyle/>
          <a:p>
            <a:pPr algn="l">
              <a:defRPr sz="1200" b="1">
                <a:solidFill>
                  <a:srgbClr val="34D399"/>
                </a:solidFill>
                <a:latin typeface="Segoe UI"/>
              </a:defRPr>
            </a:pPr>
            <a:r>
              <a:t>س4: كيف تضمنون أمان النظام وعدم تزوير التقييمات؟</a:t>
            </a:r>
          </a:p>
        </p:txBody>
      </p:sp>
      <p:sp>
        <p:nvSpPr>
          <p:cNvPr id="21" name="TextBox 20"/>
          <p:cNvSpPr txBox="1"/>
          <p:nvPr/>
        </p:nvSpPr>
        <p:spPr>
          <a:xfrm>
            <a:off x="6309360" y="4480560"/>
            <a:ext cx="4983480" cy="1097280"/>
          </a:xfrm>
          <a:prstGeom prst="rect">
            <a:avLst/>
          </a:prstGeom>
          <a:noFill/>
        </p:spPr>
        <p:txBody>
          <a:bodyPr wrap="square">
            <a:spAutoFit/>
          </a:bodyPr>
          <a:lstStyle/>
          <a:p>
            <a:pPr algn="l">
              <a:defRPr sz="1100" b="0">
                <a:solidFill>
                  <a:srgbClr val="FFFFFF"/>
                </a:solidFill>
                <a:latin typeface="Segoe UI"/>
              </a:defRPr>
            </a:pPr>
            <a:r>
              <a:t>ج: استخدمنا تشفير كلمات السر بـ Bcrypt مع Salt عشوائي، والاتصال محمي برموز JWT tokens، وقاعدة البيانات تفصل صلاحيات الموظف عن صلاحيات المدير تماماً.</a:t>
            </a:r>
          </a:p>
        </p:txBody>
      </p:sp>
      <p:sp>
        <p:nvSpPr>
          <p:cNvPr id="22" name="TextBox 21"/>
          <p:cNvSpPr txBox="1"/>
          <p:nvPr/>
        </p:nvSpPr>
        <p:spPr>
          <a:xfrm>
            <a:off x="731520" y="6035040"/>
            <a:ext cx="10698480" cy="365760"/>
          </a:xfrm>
          <a:prstGeom prst="rect">
            <a:avLst/>
          </a:prstGeom>
          <a:noFill/>
        </p:spPr>
        <p:txBody>
          <a:bodyPr wrap="square">
            <a:spAutoFit/>
          </a:bodyPr>
          <a:lstStyle/>
          <a:p>
            <a:pPr algn="l">
              <a:defRPr sz="1200" b="1">
                <a:solidFill>
                  <a:srgbClr val="34D399"/>
                </a:solidFill>
                <a:latin typeface="Segoe UI"/>
              </a:defRPr>
            </a:pPr>
            <a:r>
              <a:t>🏆 عند الإجابة بهذه المصطلحات الهندسية الدقيقة، تضمنون الحصول على أعلى تقدير (امتياز) بإذن الله!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