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Rectangle 1"/>
          <p:cNvSpPr/>
          <p:nvPr/>
        </p:nvSpPr>
        <p:spPr>
          <a:xfrm>
            <a:off x="0" y="0"/>
            <a:ext cx="9144000" cy="13716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48640"/>
            <a:ext cx="8229600" cy="365760"/>
          </a:xfrm>
          <a:prstGeom prst="rect">
            <a:avLst/>
          </a:prstGeom>
          <a:noFill/>
        </p:spPr>
        <p:txBody>
          <a:bodyPr wrap="square">
            <a:spAutoFit/>
          </a:bodyPr>
          <a:lstStyle/>
          <a:p>
            <a:pPr algn="ctr"/>
            <a:r>
              <a:rPr sz="1300" b="1">
                <a:solidFill>
                  <a:srgbClr val="38BDF8"/>
                </a:solidFill>
                <a:latin typeface="Segoe UI"/>
              </a:rPr>
              <a:t>⚡ WORKPULSE ENTERPRISE — TEAM COMPREHENSIVE STUDY GUIDE</a:t>
            </a:r>
          </a:p>
        </p:txBody>
      </p:sp>
      <p:sp>
        <p:nvSpPr>
          <p:cNvPr id="4" name="TextBox 3"/>
          <p:cNvSpPr txBox="1"/>
          <p:nvPr/>
        </p:nvSpPr>
        <p:spPr>
          <a:xfrm>
            <a:off x="457200" y="1188720"/>
            <a:ext cx="8229600" cy="1645920"/>
          </a:xfrm>
          <a:prstGeom prst="rect">
            <a:avLst/>
          </a:prstGeom>
          <a:noFill/>
        </p:spPr>
        <p:txBody>
          <a:bodyPr wrap="square">
            <a:spAutoFit/>
          </a:bodyPr>
          <a:lstStyle/>
          <a:p>
            <a:pPr algn="ctr"/>
            <a:r>
              <a:rPr sz="3000" b="1">
                <a:solidFill>
                  <a:srgbClr val="FFFFFF"/>
                </a:solidFill>
                <a:latin typeface="Segoe UI"/>
              </a:rPr>
              <a:t>دليل المذاكرة والشرح التفصيلي للمشروع
(إجابات الأسئلة وكيفية بناء كل سطر كود)</a:t>
            </a:r>
          </a:p>
        </p:txBody>
      </p:sp>
      <p:sp>
        <p:nvSpPr>
          <p:cNvPr id="5" name="TextBox 4"/>
          <p:cNvSpPr txBox="1"/>
          <p:nvPr/>
        </p:nvSpPr>
        <p:spPr>
          <a:xfrm>
            <a:off x="457200" y="2926080"/>
            <a:ext cx="8229600" cy="457200"/>
          </a:xfrm>
          <a:prstGeom prst="rect">
            <a:avLst/>
          </a:prstGeom>
          <a:noFill/>
        </p:spPr>
        <p:txBody>
          <a:bodyPr wrap="square">
            <a:spAutoFit/>
          </a:bodyPr>
          <a:lstStyle/>
          <a:p>
            <a:pPr algn="ctr"/>
            <a:r>
              <a:rPr sz="1300" b="0">
                <a:solidFill>
                  <a:srgbClr val="94A3B8"/>
                </a:solidFill>
                <a:latin typeface="Segoe UI"/>
              </a:rPr>
              <a:t>مرجع المهندسين الـ 5: شرح الداتا الرياضية، الموديلات، الباك إند، والواجهات للمناقشة مع الدكتور</a:t>
            </a:r>
          </a:p>
        </p:txBody>
      </p:sp>
      <p:sp>
        <p:nvSpPr>
          <p:cNvPr id="6" name="Rectangle 5"/>
          <p:cNvSpPr/>
          <p:nvPr/>
        </p:nvSpPr>
        <p:spPr>
          <a:xfrm>
            <a:off x="457200" y="3840480"/>
            <a:ext cx="1554480" cy="192024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3840480"/>
            <a:ext cx="155448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4023360"/>
            <a:ext cx="1463040" cy="365760"/>
          </a:xfrm>
          <a:prstGeom prst="rect">
            <a:avLst/>
          </a:prstGeom>
          <a:noFill/>
        </p:spPr>
        <p:txBody>
          <a:bodyPr wrap="square">
            <a:spAutoFit/>
          </a:bodyPr>
          <a:lstStyle/>
          <a:p>
            <a:pPr algn="ctr"/>
            <a:r>
              <a:rPr sz="1100" b="1">
                <a:solidFill>
                  <a:srgbClr val="34D399"/>
                </a:solidFill>
                <a:latin typeface="Segoe UI"/>
              </a:rPr>
              <a:t>Eng. Assma</a:t>
            </a:r>
          </a:p>
        </p:txBody>
      </p:sp>
      <p:sp>
        <p:nvSpPr>
          <p:cNvPr id="9" name="TextBox 8"/>
          <p:cNvSpPr txBox="1"/>
          <p:nvPr/>
        </p:nvSpPr>
        <p:spPr>
          <a:xfrm>
            <a:off x="502920" y="4480560"/>
            <a:ext cx="1463040" cy="1097280"/>
          </a:xfrm>
          <a:prstGeom prst="rect">
            <a:avLst/>
          </a:prstGeom>
          <a:noFill/>
        </p:spPr>
        <p:txBody>
          <a:bodyPr wrap="square">
            <a:spAutoFit/>
          </a:bodyPr>
          <a:lstStyle/>
          <a:p>
            <a:pPr algn="ctr"/>
            <a:r>
              <a:rPr sz="1000" b="0">
                <a:solidFill>
                  <a:srgbClr val="FFFFFF"/>
                </a:solidFill>
                <a:latin typeface="Segoe UI"/>
              </a:rPr>
              <a:t>Data Engineering &amp; EDA</a:t>
            </a:r>
          </a:p>
        </p:txBody>
      </p:sp>
      <p:sp>
        <p:nvSpPr>
          <p:cNvPr id="10" name="Rectangle 9"/>
          <p:cNvSpPr/>
          <p:nvPr/>
        </p:nvSpPr>
        <p:spPr>
          <a:xfrm>
            <a:off x="2148840" y="3840480"/>
            <a:ext cx="1554480" cy="192024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48840" y="3840480"/>
            <a:ext cx="155448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94560" y="4023360"/>
            <a:ext cx="1463040" cy="365760"/>
          </a:xfrm>
          <a:prstGeom prst="rect">
            <a:avLst/>
          </a:prstGeom>
          <a:noFill/>
        </p:spPr>
        <p:txBody>
          <a:bodyPr wrap="square">
            <a:spAutoFit/>
          </a:bodyPr>
          <a:lstStyle/>
          <a:p>
            <a:pPr algn="ctr"/>
            <a:r>
              <a:rPr sz="1100" b="1">
                <a:solidFill>
                  <a:srgbClr val="38BDF8"/>
                </a:solidFill>
                <a:latin typeface="Segoe UI"/>
              </a:rPr>
              <a:t>Eng. Abdullah</a:t>
            </a:r>
          </a:p>
        </p:txBody>
      </p:sp>
      <p:sp>
        <p:nvSpPr>
          <p:cNvPr id="13" name="TextBox 12"/>
          <p:cNvSpPr txBox="1"/>
          <p:nvPr/>
        </p:nvSpPr>
        <p:spPr>
          <a:xfrm>
            <a:off x="2194560" y="4480560"/>
            <a:ext cx="1463040" cy="1097280"/>
          </a:xfrm>
          <a:prstGeom prst="rect">
            <a:avLst/>
          </a:prstGeom>
          <a:noFill/>
        </p:spPr>
        <p:txBody>
          <a:bodyPr wrap="square">
            <a:spAutoFit/>
          </a:bodyPr>
          <a:lstStyle/>
          <a:p>
            <a:pPr algn="ctr"/>
            <a:r>
              <a:rPr sz="1000" b="0">
                <a:solidFill>
                  <a:srgbClr val="FFFFFF"/>
                </a:solidFill>
                <a:latin typeface="Segoe UI"/>
              </a:rPr>
              <a:t>ML Workload Modeling</a:t>
            </a:r>
          </a:p>
        </p:txBody>
      </p:sp>
      <p:sp>
        <p:nvSpPr>
          <p:cNvPr id="14" name="Rectangle 13"/>
          <p:cNvSpPr/>
          <p:nvPr/>
        </p:nvSpPr>
        <p:spPr>
          <a:xfrm>
            <a:off x="3840480" y="3840480"/>
            <a:ext cx="1554480" cy="192024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840480" y="3840480"/>
            <a:ext cx="1554480" cy="73152"/>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86200" y="4023360"/>
            <a:ext cx="1463040" cy="365760"/>
          </a:xfrm>
          <a:prstGeom prst="rect">
            <a:avLst/>
          </a:prstGeom>
          <a:noFill/>
        </p:spPr>
        <p:txBody>
          <a:bodyPr wrap="square">
            <a:spAutoFit/>
          </a:bodyPr>
          <a:lstStyle/>
          <a:p>
            <a:pPr algn="ctr"/>
            <a:r>
              <a:rPr sz="1100" b="1">
                <a:solidFill>
                  <a:srgbClr val="FBBF24"/>
                </a:solidFill>
                <a:latin typeface="Segoe UI"/>
              </a:rPr>
              <a:t>Eng. Shimaa</a:t>
            </a:r>
          </a:p>
        </p:txBody>
      </p:sp>
      <p:sp>
        <p:nvSpPr>
          <p:cNvPr id="17" name="TextBox 16"/>
          <p:cNvSpPr txBox="1"/>
          <p:nvPr/>
        </p:nvSpPr>
        <p:spPr>
          <a:xfrm>
            <a:off x="3886200" y="4480560"/>
            <a:ext cx="1463040" cy="1097280"/>
          </a:xfrm>
          <a:prstGeom prst="rect">
            <a:avLst/>
          </a:prstGeom>
          <a:noFill/>
        </p:spPr>
        <p:txBody>
          <a:bodyPr wrap="square">
            <a:spAutoFit/>
          </a:bodyPr>
          <a:lstStyle/>
          <a:p>
            <a:pPr algn="ctr"/>
            <a:r>
              <a:rPr sz="1000" b="0">
                <a:solidFill>
                  <a:srgbClr val="FFFFFF"/>
                </a:solidFill>
                <a:latin typeface="Segoe UI"/>
              </a:rPr>
              <a:t>NLP &amp; Sentiment AI</a:t>
            </a:r>
          </a:p>
        </p:txBody>
      </p:sp>
      <p:sp>
        <p:nvSpPr>
          <p:cNvPr id="18" name="Rectangle 17"/>
          <p:cNvSpPr/>
          <p:nvPr/>
        </p:nvSpPr>
        <p:spPr>
          <a:xfrm>
            <a:off x="5532120" y="3840480"/>
            <a:ext cx="1554480" cy="192024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32120" y="3840480"/>
            <a:ext cx="1554480" cy="73152"/>
          </a:xfrm>
          <a:prstGeom prst="rect">
            <a:avLst/>
          </a:prstGeom>
          <a:solidFill>
            <a:srgbClr val="C0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77840" y="4023360"/>
            <a:ext cx="1463040" cy="365760"/>
          </a:xfrm>
          <a:prstGeom prst="rect">
            <a:avLst/>
          </a:prstGeom>
          <a:noFill/>
        </p:spPr>
        <p:txBody>
          <a:bodyPr wrap="square">
            <a:spAutoFit/>
          </a:bodyPr>
          <a:lstStyle/>
          <a:p>
            <a:pPr algn="ctr"/>
            <a:r>
              <a:rPr sz="1100" b="1">
                <a:solidFill>
                  <a:srgbClr val="C084FC"/>
                </a:solidFill>
                <a:latin typeface="Segoe UI"/>
              </a:rPr>
              <a:t>Eng. Ahmed</a:t>
            </a:r>
          </a:p>
        </p:txBody>
      </p:sp>
      <p:sp>
        <p:nvSpPr>
          <p:cNvPr id="21" name="TextBox 20"/>
          <p:cNvSpPr txBox="1"/>
          <p:nvPr/>
        </p:nvSpPr>
        <p:spPr>
          <a:xfrm>
            <a:off x="5577840" y="4480560"/>
            <a:ext cx="1463040" cy="1097280"/>
          </a:xfrm>
          <a:prstGeom prst="rect">
            <a:avLst/>
          </a:prstGeom>
          <a:noFill/>
        </p:spPr>
        <p:txBody>
          <a:bodyPr wrap="square">
            <a:spAutoFit/>
          </a:bodyPr>
          <a:lstStyle/>
          <a:p>
            <a:pPr algn="ctr"/>
            <a:r>
              <a:rPr sz="1000" b="0">
                <a:solidFill>
                  <a:srgbClr val="FFFFFF"/>
                </a:solidFill>
                <a:latin typeface="Segoe UI"/>
              </a:rPr>
              <a:t>Backend, Risk &amp; PostgreSQL</a:t>
            </a:r>
          </a:p>
        </p:txBody>
      </p:sp>
      <p:sp>
        <p:nvSpPr>
          <p:cNvPr id="22" name="Rectangle 21"/>
          <p:cNvSpPr/>
          <p:nvPr/>
        </p:nvSpPr>
        <p:spPr>
          <a:xfrm>
            <a:off x="7223760" y="3840480"/>
            <a:ext cx="1554480" cy="192024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23760" y="3840480"/>
            <a:ext cx="1554480" cy="73152"/>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69480" y="4023360"/>
            <a:ext cx="1463040" cy="365760"/>
          </a:xfrm>
          <a:prstGeom prst="rect">
            <a:avLst/>
          </a:prstGeom>
          <a:noFill/>
        </p:spPr>
        <p:txBody>
          <a:bodyPr wrap="square">
            <a:spAutoFit/>
          </a:bodyPr>
          <a:lstStyle/>
          <a:p>
            <a:pPr algn="ctr"/>
            <a:r>
              <a:rPr sz="1100" b="1">
                <a:solidFill>
                  <a:srgbClr val="F87171"/>
                </a:solidFill>
                <a:latin typeface="Segoe UI"/>
              </a:rPr>
              <a:t>Eng. Noury</a:t>
            </a:r>
          </a:p>
        </p:txBody>
      </p:sp>
      <p:sp>
        <p:nvSpPr>
          <p:cNvPr id="25" name="TextBox 24"/>
          <p:cNvSpPr txBox="1"/>
          <p:nvPr/>
        </p:nvSpPr>
        <p:spPr>
          <a:xfrm>
            <a:off x="7269480" y="4480560"/>
            <a:ext cx="1463040" cy="1097280"/>
          </a:xfrm>
          <a:prstGeom prst="rect">
            <a:avLst/>
          </a:prstGeom>
          <a:noFill/>
        </p:spPr>
        <p:txBody>
          <a:bodyPr wrap="square">
            <a:spAutoFit/>
          </a:bodyPr>
          <a:lstStyle/>
          <a:p>
            <a:pPr algn="ctr"/>
            <a:r>
              <a:rPr sz="1000" b="0">
                <a:solidFill>
                  <a:srgbClr val="FFFFFF"/>
                </a:solidFill>
                <a:latin typeface="Segoe UI"/>
              </a:rPr>
              <a:t>Frontend UI &amp; Integration</a:t>
            </a:r>
          </a:p>
        </p:txBody>
      </p:sp>
      <p:sp>
        <p:nvSpPr>
          <p:cNvPr id="26" name="TextBox 25"/>
          <p:cNvSpPr txBox="1"/>
          <p:nvPr/>
        </p:nvSpPr>
        <p:spPr>
          <a:xfrm>
            <a:off x="457200" y="6309360"/>
            <a:ext cx="8229600" cy="365760"/>
          </a:xfrm>
          <a:prstGeom prst="rect">
            <a:avLst/>
          </a:prstGeom>
          <a:noFill/>
        </p:spPr>
        <p:txBody>
          <a:bodyPr wrap="square">
            <a:spAutoFit/>
          </a:bodyPr>
          <a:lstStyle/>
          <a:p>
            <a:pPr algn="ctr"/>
            <a:r>
              <a:rPr sz="1100" b="0">
                <a:solidFill>
                  <a:srgbClr val="94A3B8"/>
                </a:solidFill>
                <a:latin typeface="Segoe UI"/>
              </a:rPr>
              <a:t>WorkPulse v2.0 Enterprise  |  12-Week AI Decision Support System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8229600" cy="457200"/>
          </a:xfrm>
          <a:prstGeom prst="rect">
            <a:avLst/>
          </a:prstGeom>
          <a:noFill/>
        </p:spPr>
        <p:txBody>
          <a:bodyPr wrap="square">
            <a:spAutoFit/>
          </a:bodyPr>
          <a:lstStyle/>
          <a:p>
            <a:pPr algn="l"/>
            <a:r>
              <a:rPr sz="2200" b="1">
                <a:solidFill>
                  <a:srgbClr val="FFFFFF"/>
                </a:solidFill>
                <a:latin typeface="Segoe UI"/>
              </a:rPr>
              <a:t>📊 كيف تم إعداد البيانات وبناؤها رياضياً؟ (إجابة سؤال الدكتور)</a:t>
            </a:r>
          </a:p>
        </p:txBody>
      </p:sp>
      <p:sp>
        <p:nvSpPr>
          <p:cNvPr id="4" name="TextBox 3"/>
          <p:cNvSpPr txBox="1"/>
          <p:nvPr/>
        </p:nvSpPr>
        <p:spPr>
          <a:xfrm>
            <a:off x="457200" y="777240"/>
            <a:ext cx="8229600" cy="320040"/>
          </a:xfrm>
          <a:prstGeom prst="rect">
            <a:avLst/>
          </a:prstGeom>
          <a:noFill/>
        </p:spPr>
        <p:txBody>
          <a:bodyPr wrap="square">
            <a:spAutoFit/>
          </a:bodyPr>
          <a:lstStyle/>
          <a:p>
            <a:pPr algn="l"/>
            <a:r>
              <a:rPr sz="1200" b="0">
                <a:solidFill>
                  <a:srgbClr val="94A3B8"/>
                </a:solidFill>
                <a:latin typeface="Segoe UI"/>
              </a:rPr>
              <a:t>لو سألك الدكتور: 'من أين أتيتم بالبيانات وكيف تم التحقق من منطقيتها؟'</a:t>
            </a:r>
          </a:p>
        </p:txBody>
      </p:sp>
      <p:sp>
        <p:nvSpPr>
          <p:cNvPr id="5" name="Rectangle 4"/>
          <p:cNvSpPr/>
          <p:nvPr/>
        </p:nvSpPr>
        <p:spPr>
          <a:xfrm>
            <a:off x="457200" y="1188720"/>
            <a:ext cx="3931920" cy="530352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188720"/>
            <a:ext cx="393192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25880"/>
            <a:ext cx="3566160" cy="320040"/>
          </a:xfrm>
          <a:prstGeom prst="rect">
            <a:avLst/>
          </a:prstGeom>
          <a:noFill/>
        </p:spPr>
        <p:txBody>
          <a:bodyPr wrap="square">
            <a:spAutoFit/>
          </a:bodyPr>
          <a:lstStyle/>
          <a:p>
            <a:pPr algn="l"/>
            <a:r>
              <a:rPr sz="1300" b="1">
                <a:solidFill>
                  <a:srgbClr val="34D399"/>
                </a:solidFill>
                <a:latin typeface="Segoe UI"/>
              </a:rPr>
              <a:t>1. لماذا بيانات اصطناعية (Synthetic)؟</a:t>
            </a:r>
          </a:p>
        </p:txBody>
      </p:sp>
      <p:sp>
        <p:nvSpPr>
          <p:cNvPr id="8" name="TextBox 7"/>
          <p:cNvSpPr txBox="1"/>
          <p:nvPr/>
        </p:nvSpPr>
        <p:spPr>
          <a:xfrm>
            <a:off x="640080" y="1737360"/>
            <a:ext cx="3566160" cy="4572000"/>
          </a:xfrm>
          <a:prstGeom prst="rect">
            <a:avLst/>
          </a:prstGeom>
          <a:noFill/>
        </p:spPr>
        <p:txBody>
          <a:bodyPr wrap="square">
            <a:spAutoFit/>
          </a:bodyPr>
          <a:lstStyle/>
          <a:p>
            <a:pPr>
              <a:lnSpc>
                <a:spcPct val="115000"/>
              </a:lnSpc>
              <a:spcAft>
                <a:spcPts val="500"/>
              </a:spcAft>
            </a:pPr>
            <a:r>
              <a:rPr sz="1100">
                <a:solidFill>
                  <a:srgbClr val="FFFFFF"/>
                </a:solidFill>
                <a:latin typeface="Segoe UI"/>
              </a:rPr>
              <a:t>✦  سرية وخصوصية HR: بيانات الموظفين (الغياب، الحضور، والمشاعر) بيانات شخصية محمية بقوانين GDPR والخصوصية، ولا توجد أي جهة تنشر هذه البيانات علناً.</a:t>
            </a:r>
          </a:p>
          <a:p>
            <a:pPr>
              <a:lnSpc>
                <a:spcPct val="115000"/>
              </a:lnSpc>
              <a:spcAft>
                <a:spcPts val="500"/>
              </a:spcAft>
            </a:pPr>
            <a:r>
              <a:rPr sz="1100">
                <a:solidFill>
                  <a:srgbClr val="FFFFFF"/>
                </a:solidFill>
                <a:latin typeface="Segoe UI"/>
              </a:rPr>
              <a:t>✦  نقص البيانات متعددة الأنماط (Multi-Modal): الداتا المتاحة على Kaggle إما جداول أرقام فقط بدون نصوص، أو نصوص فقط بدون ساعات عمل.</a:t>
            </a:r>
          </a:p>
          <a:p>
            <a:pPr>
              <a:lnSpc>
                <a:spcPct val="115000"/>
              </a:lnSpc>
              <a:spcAft>
                <a:spcPts val="500"/>
              </a:spcAft>
            </a:pPr>
            <a:r>
              <a:rPr sz="1100">
                <a:solidFill>
                  <a:srgbClr val="FFFFFF"/>
                </a:solidFill>
                <a:latin typeface="Segoe UI"/>
              </a:rPr>
              <a:t>✦  لذلك قمنا بهندسة داتا (Data Synthesis) مطابقة للأبحاث العلمية المعتمدة في إدارة الموارد البشرية ونظريات الاحتراق الوظيفي (Maslach Burnout Inventory).</a:t>
            </a:r>
          </a:p>
          <a:p>
            <a:pPr>
              <a:lnSpc>
                <a:spcPct val="115000"/>
              </a:lnSpc>
              <a:spcAft>
                <a:spcPts val="500"/>
              </a:spcAft>
            </a:pPr>
            <a:r>
              <a:rPr sz="1100">
                <a:solidFill>
                  <a:srgbClr val="FFFFFF"/>
                </a:solidFill>
                <a:latin typeface="Segoe UI"/>
              </a:rPr>
              <a:t>✦  تمثيل دقيق ومدروس: قمنا بإنشاء 50 موظف كعينة ممثلة لشركة حقيقية بأسماء متوازنة لسهولة الفحص والعرض التوضيحي.</a:t>
            </a:r>
          </a:p>
        </p:txBody>
      </p:sp>
      <p:sp>
        <p:nvSpPr>
          <p:cNvPr id="9" name="Rectangle 8"/>
          <p:cNvSpPr/>
          <p:nvPr/>
        </p:nvSpPr>
        <p:spPr>
          <a:xfrm>
            <a:off x="4754880" y="1188720"/>
            <a:ext cx="3931920" cy="530352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54880" y="1188720"/>
            <a:ext cx="393192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0" y="1325880"/>
            <a:ext cx="3566160" cy="320040"/>
          </a:xfrm>
          <a:prstGeom prst="rect">
            <a:avLst/>
          </a:prstGeom>
          <a:noFill/>
        </p:spPr>
        <p:txBody>
          <a:bodyPr wrap="square">
            <a:spAutoFit/>
          </a:bodyPr>
          <a:lstStyle/>
          <a:p>
            <a:pPr algn="l"/>
            <a:r>
              <a:rPr sz="1300" b="1">
                <a:solidFill>
                  <a:srgbClr val="38BDF8"/>
                </a:solidFill>
                <a:latin typeface="Segoe UI"/>
              </a:rPr>
              <a:t>2. المعادلة الرياضية للتوليد والـ Noise</a:t>
            </a:r>
          </a:p>
        </p:txBody>
      </p:sp>
      <p:sp>
        <p:nvSpPr>
          <p:cNvPr id="12" name="TextBox 11"/>
          <p:cNvSpPr txBox="1"/>
          <p:nvPr/>
        </p:nvSpPr>
        <p:spPr>
          <a:xfrm>
            <a:off x="4937760" y="1737360"/>
            <a:ext cx="3566160" cy="4572000"/>
          </a:xfrm>
          <a:prstGeom prst="rect">
            <a:avLst/>
          </a:prstGeom>
          <a:noFill/>
        </p:spPr>
        <p:txBody>
          <a:bodyPr wrap="square">
            <a:spAutoFit/>
          </a:bodyPr>
          <a:lstStyle/>
          <a:p>
            <a:pPr>
              <a:lnSpc>
                <a:spcPct val="115000"/>
              </a:lnSpc>
              <a:spcAft>
                <a:spcPts val="500"/>
              </a:spcAft>
            </a:pPr>
            <a:r>
              <a:rPr sz="1100">
                <a:solidFill>
                  <a:srgbClr val="FFFFFF"/>
                </a:solidFill>
                <a:latin typeface="Segoe UI"/>
              </a:rPr>
              <a:t>✦  المعادلة الرياضية في generate_data.py:</a:t>
            </a:r>
          </a:p>
          <a:p>
            <a:pPr>
              <a:lnSpc>
                <a:spcPct val="115000"/>
              </a:lnSpc>
              <a:spcAft>
                <a:spcPts val="500"/>
              </a:spcAft>
            </a:pPr>
            <a:r>
              <a:rPr sz="1100">
                <a:solidFill>
                  <a:srgbClr val="FFFFFF"/>
                </a:solidFill>
                <a:latin typeface="Segoe UI"/>
              </a:rPr>
              <a:t>✦  Score = 0.30×ساعات العمل + 0.25×الأوفرتايم + 0.15×الغياب + 0.10×التأخير + 0.15×المهام - 0.05×الإجازات</a:t>
            </a:r>
          </a:p>
          <a:p>
            <a:pPr>
              <a:lnSpc>
                <a:spcPct val="115000"/>
              </a:lnSpc>
              <a:spcAft>
                <a:spcPts val="500"/>
              </a:spcAft>
            </a:pPr>
            <a:r>
              <a:rPr sz="1100">
                <a:solidFill>
                  <a:srgbClr val="FFFFFF"/>
                </a:solidFill>
                <a:latin typeface="Segoe UI"/>
              </a:rPr>
              <a:t>✦  تطبيع القيم (Normalization): كل متغير تم قسمته على مداه ليصبح بين [0 و 1] لتحقيق العدالة الرياضية في الأوزان.</a:t>
            </a:r>
          </a:p>
          <a:p>
            <a:pPr>
              <a:lnSpc>
                <a:spcPct val="115000"/>
              </a:lnSpc>
              <a:spcAft>
                <a:spcPts val="500"/>
              </a:spcAft>
            </a:pPr>
            <a:r>
              <a:rPr sz="1100">
                <a:solidFill>
                  <a:srgbClr val="FFFFFF"/>
                </a:solidFill>
                <a:latin typeface="Segoe UI"/>
              </a:rPr>
              <a:t>✦  عامل الحماية (Negative Weight): الإجازات أخذت وزناً سالباً (-0.05) لأن الراحة تقلل احتمالية الإرهاق.</a:t>
            </a:r>
          </a:p>
          <a:p>
            <a:pPr>
              <a:lnSpc>
                <a:spcPct val="115000"/>
              </a:lnSpc>
              <a:spcAft>
                <a:spcPts val="500"/>
              </a:spcAft>
            </a:pPr>
            <a:r>
              <a:rPr sz="1100">
                <a:solidFill>
                  <a:srgbClr val="FFFFFF"/>
                </a:solidFill>
                <a:latin typeface="Segoe UI"/>
              </a:rPr>
              <a:t>✦  حقن العشوائية (10% Gaussian Noise):</a:t>
            </a:r>
          </a:p>
          <a:p>
            <a:pPr>
              <a:lnSpc>
                <a:spcPct val="115000"/>
              </a:lnSpc>
              <a:spcAft>
                <a:spcPts val="500"/>
              </a:spcAft>
            </a:pPr>
            <a:r>
              <a:rPr sz="1100">
                <a:solidFill>
                  <a:srgbClr val="FFFFFF"/>
                </a:solidFill>
                <a:latin typeface="Segoe UI"/>
              </a:rPr>
              <a:t>✦  أضفنا تشويشاً عشوائياً (np.random.normal(0, 0.10))، وذلك لكي لا تكون العلاقات خطية بنسبة 100%، ولكي يتعلم الموديل أنماطاً واقعية معقدة وغير مثالية.</a:t>
            </a:r>
          </a:p>
          <a:p>
            <a:pPr>
              <a:lnSpc>
                <a:spcPct val="115000"/>
              </a:lnSpc>
              <a:spcAft>
                <a:spcPts val="500"/>
              </a:spcAft>
            </a:pPr>
            <a:r>
              <a:rPr sz="1100">
                <a:solidFill>
                  <a:srgbClr val="FFFFFF"/>
                </a:solidFill>
                <a:latin typeface="Segoe UI"/>
              </a:rPr>
              <a:t>✦  إذا تجاوز الناتج 0.50 يُصنف الموظف كـ Burnout (حققنا نسبة 40% إرهاق وهي النسبة العالمية الموثقة).</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8229600" cy="457200"/>
          </a:xfrm>
          <a:prstGeom prst="rect">
            <a:avLst/>
          </a:prstGeom>
          <a:noFill/>
        </p:spPr>
        <p:txBody>
          <a:bodyPr wrap="square">
            <a:spAutoFit/>
          </a:bodyPr>
          <a:lstStyle/>
          <a:p>
            <a:pPr algn="l"/>
            <a:r>
              <a:rPr sz="2200" b="1">
                <a:solidFill>
                  <a:srgbClr val="34D399"/>
                </a:solidFill>
                <a:latin typeface="Segoe UI"/>
              </a:rPr>
              <a:t>👤 دور المهندسة: Eng. Assma — Data Engineering &amp; EDA</a:t>
            </a:r>
          </a:p>
        </p:txBody>
      </p:sp>
      <p:sp>
        <p:nvSpPr>
          <p:cNvPr id="4" name="TextBox 3"/>
          <p:cNvSpPr txBox="1"/>
          <p:nvPr/>
        </p:nvSpPr>
        <p:spPr>
          <a:xfrm>
            <a:off x="457200" y="777240"/>
            <a:ext cx="8229600" cy="320040"/>
          </a:xfrm>
          <a:prstGeom prst="rect">
            <a:avLst/>
          </a:prstGeom>
          <a:noFill/>
        </p:spPr>
        <p:txBody>
          <a:bodyPr wrap="square">
            <a:spAutoFit/>
          </a:bodyPr>
          <a:lstStyle/>
          <a:p>
            <a:pPr algn="l"/>
            <a:r>
              <a:rPr sz="1200" b="0">
                <a:solidFill>
                  <a:srgbClr val="94A3B8"/>
                </a:solidFill>
                <a:latin typeface="Segoe UI"/>
              </a:rPr>
              <a:t>المسؤولية: data/generate_data.py | eda.py | data/employees.csv</a:t>
            </a:r>
          </a:p>
        </p:txBody>
      </p:sp>
      <p:sp>
        <p:nvSpPr>
          <p:cNvPr id="5" name="Rectangle 4"/>
          <p:cNvSpPr/>
          <p:nvPr/>
        </p:nvSpPr>
        <p:spPr>
          <a:xfrm>
            <a:off x="457200" y="1188720"/>
            <a:ext cx="3931920" cy="530352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188720"/>
            <a:ext cx="393192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25880"/>
            <a:ext cx="3566160" cy="320040"/>
          </a:xfrm>
          <a:prstGeom prst="rect">
            <a:avLst/>
          </a:prstGeom>
          <a:noFill/>
        </p:spPr>
        <p:txBody>
          <a:bodyPr wrap="square">
            <a:spAutoFit/>
          </a:bodyPr>
          <a:lstStyle/>
          <a:p>
            <a:pPr algn="l"/>
            <a:r>
              <a:rPr sz="1300" b="1">
                <a:solidFill>
                  <a:srgbClr val="FFFFFF"/>
                </a:solidFill>
                <a:latin typeface="Segoe UI"/>
              </a:rPr>
              <a:t>أهم ما تشرحه وتذاكره Eng. Assma</a:t>
            </a:r>
          </a:p>
        </p:txBody>
      </p:sp>
      <p:sp>
        <p:nvSpPr>
          <p:cNvPr id="8" name="TextBox 7"/>
          <p:cNvSpPr txBox="1"/>
          <p:nvPr/>
        </p:nvSpPr>
        <p:spPr>
          <a:xfrm>
            <a:off x="640080" y="1737360"/>
            <a:ext cx="3566160" cy="4572000"/>
          </a:xfrm>
          <a:prstGeom prst="rect">
            <a:avLst/>
          </a:prstGeom>
          <a:noFill/>
        </p:spPr>
        <p:txBody>
          <a:bodyPr wrap="square">
            <a:spAutoFit/>
          </a:bodyPr>
          <a:lstStyle/>
          <a:p>
            <a:pPr>
              <a:lnSpc>
                <a:spcPct val="115000"/>
              </a:lnSpc>
              <a:spcAft>
                <a:spcPts val="500"/>
              </a:spcAft>
            </a:pPr>
            <a:r>
              <a:rPr sz="1100">
                <a:solidFill>
                  <a:srgbClr val="FFFFFF"/>
                </a:solidFill>
                <a:latin typeface="Segoe UI"/>
              </a:rPr>
              <a:t>✦  خطوات هندسة البيانات (Data Pipeline):</a:t>
            </a:r>
          </a:p>
          <a:p>
            <a:pPr>
              <a:lnSpc>
                <a:spcPct val="115000"/>
              </a:lnSpc>
              <a:spcAft>
                <a:spcPts val="500"/>
              </a:spcAft>
            </a:pPr>
            <a:r>
              <a:rPr sz="1100">
                <a:solidFill>
                  <a:srgbClr val="FFFFFF"/>
                </a:solidFill>
                <a:latin typeface="Segoe UI"/>
              </a:rPr>
              <a:t>✦  1) توليد مصفوفات الأرقام للمتغيرات الـ 6 بمدى واقعي (ساعات العمل من 6 إلى 13، أوفرتايم من 0 إلى 25 ساعة).</a:t>
            </a:r>
          </a:p>
          <a:p>
            <a:pPr>
              <a:lnSpc>
                <a:spcPct val="115000"/>
              </a:lnSpc>
              <a:spcAft>
                <a:spcPts val="500"/>
              </a:spcAft>
            </a:pPr>
            <a:r>
              <a:rPr sz="1100">
                <a:solidFill>
                  <a:srgbClr val="FFFFFF"/>
                </a:solidFill>
                <a:latin typeface="Segoe UI"/>
              </a:rPr>
              <a:t>✦  2) توليد نصوص الفيدباك النصية (30 جملة معبرة مقسمة إلى سلبية، محايدة، وإيجابية) وربطها باحتمالية إرهاق الموظف.</a:t>
            </a:r>
          </a:p>
          <a:p>
            <a:pPr>
              <a:lnSpc>
                <a:spcPct val="115000"/>
              </a:lnSpc>
              <a:spcAft>
                <a:spcPts val="500"/>
              </a:spcAft>
            </a:pPr>
            <a:r>
              <a:rPr sz="1100">
                <a:solidFill>
                  <a:srgbClr val="FFFFFF"/>
                </a:solidFill>
                <a:latin typeface="Segoe UI"/>
              </a:rPr>
              <a:t>✦  3) إضافة أسماء حقيقية لكل موظف لتمكين البحث بالاسم.</a:t>
            </a:r>
          </a:p>
          <a:p>
            <a:pPr>
              <a:lnSpc>
                <a:spcPct val="115000"/>
              </a:lnSpc>
              <a:spcAft>
                <a:spcPts val="500"/>
              </a:spcAft>
            </a:pPr>
            <a:r>
              <a:rPr sz="1100">
                <a:solidFill>
                  <a:srgbClr val="FFFFFF"/>
                </a:solidFill>
                <a:latin typeface="Segoe UI"/>
              </a:rPr>
              <a:t>✦  4) دالة clean_data: التأكد من سلامة أنواع البيانات (int و float)، كشف وتصفية أي قيم شاذة خارج المدى، وحذف أي سجلات مكررة.</a:t>
            </a:r>
          </a:p>
          <a:p>
            <a:pPr>
              <a:lnSpc>
                <a:spcPct val="115000"/>
              </a:lnSpc>
              <a:spcAft>
                <a:spcPts val="500"/>
              </a:spcAft>
            </a:pPr>
            <a:r>
              <a:rPr sz="1100">
                <a:solidFill>
                  <a:srgbClr val="FFFFFF"/>
                </a:solidFill>
                <a:latin typeface="Segoe UI"/>
              </a:rPr>
              <a:t>✦  5) النتيجة: ملف employees.csv نظيف وجاهز للتدريب.</a:t>
            </a:r>
          </a:p>
        </p:txBody>
      </p:sp>
      <p:sp>
        <p:nvSpPr>
          <p:cNvPr id="9" name="Rectangle 8"/>
          <p:cNvSpPr/>
          <p:nvPr/>
        </p:nvSpPr>
        <p:spPr>
          <a:xfrm>
            <a:off x="4754880" y="1188720"/>
            <a:ext cx="3931920" cy="530352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54880" y="1188720"/>
            <a:ext cx="3931920" cy="73152"/>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0" y="1325880"/>
            <a:ext cx="3566160" cy="320040"/>
          </a:xfrm>
          <a:prstGeom prst="rect">
            <a:avLst/>
          </a:prstGeom>
          <a:noFill/>
        </p:spPr>
        <p:txBody>
          <a:bodyPr wrap="square">
            <a:spAutoFit/>
          </a:bodyPr>
          <a:lstStyle/>
          <a:p>
            <a:pPr algn="l"/>
            <a:r>
              <a:rPr sz="1300" b="1">
                <a:solidFill>
                  <a:srgbClr val="FBBF24"/>
                </a:solidFill>
                <a:latin typeface="Segoe UI"/>
              </a:rPr>
              <a:t>شرح الرسومات البيانية الـ 6 (EDA Visuals)</a:t>
            </a:r>
          </a:p>
        </p:txBody>
      </p:sp>
      <p:sp>
        <p:nvSpPr>
          <p:cNvPr id="12" name="TextBox 11"/>
          <p:cNvSpPr txBox="1"/>
          <p:nvPr/>
        </p:nvSpPr>
        <p:spPr>
          <a:xfrm>
            <a:off x="4937760" y="1737360"/>
            <a:ext cx="3566160" cy="4572000"/>
          </a:xfrm>
          <a:prstGeom prst="rect">
            <a:avLst/>
          </a:prstGeom>
          <a:noFill/>
        </p:spPr>
        <p:txBody>
          <a:bodyPr wrap="square">
            <a:spAutoFit/>
          </a:bodyPr>
          <a:lstStyle/>
          <a:p>
            <a:pPr>
              <a:lnSpc>
                <a:spcPct val="115000"/>
              </a:lnSpc>
              <a:spcAft>
                <a:spcPts val="500"/>
              </a:spcAft>
            </a:pPr>
            <a:r>
              <a:rPr sz="1100">
                <a:solidFill>
                  <a:srgbClr val="FFFFFF"/>
                </a:solidFill>
                <a:latin typeface="Segoe UI"/>
              </a:rPr>
              <a:t>✦  تم إنشاء 6 رسومات بيانية بـ Matplotlib &amp; Seaborn:</a:t>
            </a:r>
          </a:p>
          <a:p>
            <a:pPr>
              <a:lnSpc>
                <a:spcPct val="115000"/>
              </a:lnSpc>
              <a:spcAft>
                <a:spcPts val="500"/>
              </a:spcAft>
            </a:pPr>
            <a:r>
              <a:rPr sz="1100">
                <a:solidFill>
                  <a:srgbClr val="FFFFFF"/>
                </a:solidFill>
                <a:latin typeface="Segoe UI"/>
              </a:rPr>
              <a:t>✦  1. Class Distribution: يوضح توازن البيانات (30 غير مصابين و 20 مصابين).</a:t>
            </a:r>
          </a:p>
          <a:p>
            <a:pPr>
              <a:lnSpc>
                <a:spcPct val="115000"/>
              </a:lnSpc>
              <a:spcAft>
                <a:spcPts val="500"/>
              </a:spcAft>
            </a:pPr>
            <a:r>
              <a:rPr sz="1100">
                <a:solidFill>
                  <a:srgbClr val="FFFFFF"/>
                </a:solidFill>
                <a:latin typeface="Segoe UI"/>
              </a:rPr>
              <a:t>✦  2. Histograms: يثبت تباين توزيع ساعات العمل والأوفرتايم بين المصابين وغير المصابين.</a:t>
            </a:r>
          </a:p>
          <a:p>
            <a:pPr>
              <a:lnSpc>
                <a:spcPct val="115000"/>
              </a:lnSpc>
              <a:spcAft>
                <a:spcPts val="500"/>
              </a:spcAft>
            </a:pPr>
            <a:r>
              <a:rPr sz="1100">
                <a:solidFill>
                  <a:srgbClr val="FFFFFF"/>
                </a:solidFill>
                <a:latin typeface="Segoe UI"/>
              </a:rPr>
              <a:t>✦  3. Boxplots: يوضح وجود فجوة في الوسيط (Median) دون وجود تشوهات شاذة مخلة.</a:t>
            </a:r>
          </a:p>
          <a:p>
            <a:pPr>
              <a:lnSpc>
                <a:spcPct val="115000"/>
              </a:lnSpc>
              <a:spcAft>
                <a:spcPts val="500"/>
              </a:spcAft>
            </a:pPr>
            <a:r>
              <a:rPr sz="1100">
                <a:solidFill>
                  <a:srgbClr val="FFFFFF"/>
                </a:solidFill>
                <a:latin typeface="Segoe UI"/>
              </a:rPr>
              <a:t>✦  4. Correlation Heatmap: أثبت أن أعلى معامل ارتباط هو ساعات العمل اليومية (+0.68) يليه الأوفرتايم (+0.61).</a:t>
            </a:r>
          </a:p>
          <a:p>
            <a:pPr>
              <a:lnSpc>
                <a:spcPct val="115000"/>
              </a:lnSpc>
              <a:spcAft>
                <a:spcPts val="500"/>
              </a:spcAft>
            </a:pPr>
            <a:r>
              <a:rPr sz="1100">
                <a:solidFill>
                  <a:srgbClr val="FFFFFF"/>
                </a:solidFill>
                <a:latin typeface="Segoe UI"/>
              </a:rPr>
              <a:t>✦  5. Overtime Buckets: معدل الخطر يقفز من 15% للموظفين بدون أوفرتايم إلى 85% لمن يتجاوز 15 ساعة.</a:t>
            </a:r>
          </a:p>
          <a:p>
            <a:pPr>
              <a:lnSpc>
                <a:spcPct val="115000"/>
              </a:lnSpc>
              <a:spcAft>
                <a:spcPts val="500"/>
              </a:spcAft>
            </a:pPr>
            <a:r>
              <a:rPr sz="1100">
                <a:solidFill>
                  <a:srgbClr val="FFFFFF"/>
                </a:solidFill>
                <a:latin typeface="Segoe UI"/>
              </a:rPr>
              <a:t>✦  6. Scatter Plot: فصل بصري ملون يوضح تمركز حالات الإرهاق في منطقة الساعات العالية.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8229600" cy="457200"/>
          </a:xfrm>
          <a:prstGeom prst="rect">
            <a:avLst/>
          </a:prstGeom>
          <a:noFill/>
        </p:spPr>
        <p:txBody>
          <a:bodyPr wrap="square">
            <a:spAutoFit/>
          </a:bodyPr>
          <a:lstStyle/>
          <a:p>
            <a:pPr algn="l"/>
            <a:r>
              <a:rPr sz="2200" b="1">
                <a:solidFill>
                  <a:srgbClr val="38BDF8"/>
                </a:solidFill>
                <a:latin typeface="Segoe UI"/>
              </a:rPr>
              <a:t>👤 دور المهندس: Eng. Abdullah — Machine Learning Modeling</a:t>
            </a:r>
          </a:p>
        </p:txBody>
      </p:sp>
      <p:sp>
        <p:nvSpPr>
          <p:cNvPr id="4" name="TextBox 3"/>
          <p:cNvSpPr txBox="1"/>
          <p:nvPr/>
        </p:nvSpPr>
        <p:spPr>
          <a:xfrm>
            <a:off x="457200" y="777240"/>
            <a:ext cx="8229600" cy="320040"/>
          </a:xfrm>
          <a:prstGeom prst="rect">
            <a:avLst/>
          </a:prstGeom>
          <a:noFill/>
        </p:spPr>
        <p:txBody>
          <a:bodyPr wrap="square">
            <a:spAutoFit/>
          </a:bodyPr>
          <a:lstStyle/>
          <a:p>
            <a:pPr algn="l"/>
            <a:r>
              <a:rPr sz="1200" b="0">
                <a:solidFill>
                  <a:srgbClr val="94A3B8"/>
                </a:solidFill>
                <a:latin typeface="Segoe UI"/>
              </a:rPr>
              <a:t>المسؤولية: train_model.py | models/workload_model.pkl</a:t>
            </a:r>
          </a:p>
        </p:txBody>
      </p:sp>
      <p:sp>
        <p:nvSpPr>
          <p:cNvPr id="5" name="Rectangle 4"/>
          <p:cNvSpPr/>
          <p:nvPr/>
        </p:nvSpPr>
        <p:spPr>
          <a:xfrm>
            <a:off x="457200" y="1188720"/>
            <a:ext cx="3931920" cy="530352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188720"/>
            <a:ext cx="393192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25880"/>
            <a:ext cx="3566160" cy="320040"/>
          </a:xfrm>
          <a:prstGeom prst="rect">
            <a:avLst/>
          </a:prstGeom>
          <a:noFill/>
        </p:spPr>
        <p:txBody>
          <a:bodyPr wrap="square">
            <a:spAutoFit/>
          </a:bodyPr>
          <a:lstStyle/>
          <a:p>
            <a:pPr algn="l"/>
            <a:r>
              <a:rPr sz="1300" b="1">
                <a:solidFill>
                  <a:srgbClr val="38BDF8"/>
                </a:solidFill>
                <a:latin typeface="Segoe UI"/>
              </a:rPr>
              <a:t>تدريب الموديل والمقارنة (Model Training)</a:t>
            </a:r>
          </a:p>
        </p:txBody>
      </p:sp>
      <p:sp>
        <p:nvSpPr>
          <p:cNvPr id="8" name="TextBox 7"/>
          <p:cNvSpPr txBox="1"/>
          <p:nvPr/>
        </p:nvSpPr>
        <p:spPr>
          <a:xfrm>
            <a:off x="640080" y="1737360"/>
            <a:ext cx="3566160" cy="4572000"/>
          </a:xfrm>
          <a:prstGeom prst="rect">
            <a:avLst/>
          </a:prstGeom>
          <a:noFill/>
        </p:spPr>
        <p:txBody>
          <a:bodyPr wrap="square">
            <a:spAutoFit/>
          </a:bodyPr>
          <a:lstStyle/>
          <a:p>
            <a:pPr>
              <a:lnSpc>
                <a:spcPct val="115000"/>
              </a:lnSpc>
              <a:spcAft>
                <a:spcPts val="500"/>
              </a:spcAft>
            </a:pPr>
            <a:r>
              <a:rPr sz="1100">
                <a:solidFill>
                  <a:srgbClr val="FFFFFF"/>
                </a:solidFill>
                <a:latin typeface="Segoe UI"/>
              </a:rPr>
              <a:t>✦  تقسيم البيانات: 80% Train و 20% Test باستخدام random_state=42 مع تفعيل stratify=y لضمان التوزيع العادل للفئات في الاختبار.</a:t>
            </a:r>
          </a:p>
          <a:p>
            <a:pPr>
              <a:lnSpc>
                <a:spcPct val="115000"/>
              </a:lnSpc>
              <a:spcAft>
                <a:spcPts val="500"/>
              </a:spcAft>
            </a:pPr>
            <a:r>
              <a:rPr sz="1100">
                <a:solidFill>
                  <a:srgbClr val="FFFFFF"/>
                </a:solidFill>
                <a:latin typeface="Segoe UI"/>
              </a:rPr>
              <a:t>✦  الموديل القاعدي (Baseline): Logistic Regression مع تقييس المتغيرات بـ StandardScaler.</a:t>
            </a:r>
          </a:p>
          <a:p>
            <a:pPr>
              <a:lnSpc>
                <a:spcPct val="115000"/>
              </a:lnSpc>
              <a:spcAft>
                <a:spcPts val="500"/>
              </a:spcAft>
            </a:pPr>
            <a:r>
              <a:rPr sz="1100">
                <a:solidFill>
                  <a:srgbClr val="FFFFFF"/>
                </a:solidFill>
                <a:latin typeface="Segoe UI"/>
              </a:rPr>
              <a:t>✦  الموديل النهائي: Random Forest Classifier بعدد 200 شجرة قرار، وعمق أقصى max_depth=10 لمنع الـ Overfitting.</a:t>
            </a:r>
          </a:p>
          <a:p>
            <a:pPr>
              <a:lnSpc>
                <a:spcPct val="115000"/>
              </a:lnSpc>
              <a:spcAft>
                <a:spcPts val="500"/>
              </a:spcAft>
            </a:pPr>
            <a:r>
              <a:rPr sz="1100">
                <a:solidFill>
                  <a:srgbClr val="FFFFFF"/>
                </a:solidFill>
                <a:latin typeface="Segoe UI"/>
              </a:rPr>
              <a:t>✦  المقارنة: تفوق Random Forest بتحقيق F1-Score قدره 0.83 مقارنة بالـ Baseline.</a:t>
            </a:r>
          </a:p>
          <a:p>
            <a:pPr>
              <a:lnSpc>
                <a:spcPct val="115000"/>
              </a:lnSpc>
              <a:spcAft>
                <a:spcPts val="500"/>
              </a:spcAft>
            </a:pPr>
            <a:r>
              <a:rPr sz="1100">
                <a:solidFill>
                  <a:srgbClr val="FFFFFF"/>
                </a:solidFill>
                <a:latin typeface="Segoe UI"/>
              </a:rPr>
              <a:t>✦  تم حفظ الموديل عبر مكتبة joblib في models/workload_model.pkl لتحميله فائق السرعة في الـ API.</a:t>
            </a:r>
          </a:p>
        </p:txBody>
      </p:sp>
      <p:sp>
        <p:nvSpPr>
          <p:cNvPr id="9" name="Rectangle 8"/>
          <p:cNvSpPr/>
          <p:nvPr/>
        </p:nvSpPr>
        <p:spPr>
          <a:xfrm>
            <a:off x="4754880" y="1188720"/>
            <a:ext cx="3931920" cy="530352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54880" y="1188720"/>
            <a:ext cx="3931920" cy="73152"/>
          </a:xfrm>
          <a:prstGeom prst="rect">
            <a:avLst/>
          </a:prstGeom>
          <a:solidFill>
            <a:srgbClr val="C0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0" y="1325880"/>
            <a:ext cx="3566160" cy="320040"/>
          </a:xfrm>
          <a:prstGeom prst="rect">
            <a:avLst/>
          </a:prstGeom>
          <a:noFill/>
        </p:spPr>
        <p:txBody>
          <a:bodyPr wrap="square">
            <a:spAutoFit/>
          </a:bodyPr>
          <a:lstStyle/>
          <a:p>
            <a:pPr algn="l"/>
            <a:r>
              <a:rPr sz="1300" b="1">
                <a:solidFill>
                  <a:srgbClr val="C084FC"/>
                </a:solidFill>
                <a:latin typeface="Segoe UI"/>
              </a:rPr>
              <a:t>ترتيب أهمية المتغيرات (Feature Importance)</a:t>
            </a:r>
          </a:p>
        </p:txBody>
      </p:sp>
      <p:sp>
        <p:nvSpPr>
          <p:cNvPr id="12" name="TextBox 11"/>
          <p:cNvSpPr txBox="1"/>
          <p:nvPr/>
        </p:nvSpPr>
        <p:spPr>
          <a:xfrm>
            <a:off x="4937760" y="1737360"/>
            <a:ext cx="3566160" cy="4572000"/>
          </a:xfrm>
          <a:prstGeom prst="rect">
            <a:avLst/>
          </a:prstGeom>
          <a:noFill/>
        </p:spPr>
        <p:txBody>
          <a:bodyPr wrap="square">
            <a:spAutoFit/>
          </a:bodyPr>
          <a:lstStyle/>
          <a:p>
            <a:pPr>
              <a:lnSpc>
                <a:spcPct val="115000"/>
              </a:lnSpc>
              <a:spcAft>
                <a:spcPts val="500"/>
              </a:spcAft>
            </a:pPr>
            <a:r>
              <a:rPr sz="1100">
                <a:solidFill>
                  <a:srgbClr val="FFFFFF"/>
                </a:solidFill>
                <a:latin typeface="Segoe UI"/>
              </a:rPr>
              <a:t>✦  استخراج الأهمية الحسابية عبر rf.feature_importances_:</a:t>
            </a:r>
          </a:p>
          <a:p>
            <a:pPr>
              <a:lnSpc>
                <a:spcPct val="115000"/>
              </a:lnSpc>
              <a:spcAft>
                <a:spcPts val="500"/>
              </a:spcAft>
            </a:pPr>
            <a:r>
              <a:rPr sz="1100">
                <a:solidFill>
                  <a:srgbClr val="FFFFFF"/>
                </a:solidFill>
                <a:latin typeface="Segoe UI"/>
              </a:rPr>
              <a:t>✦  1. avg_daily_hours (35.9%): ساعات العمل اليومية المتواصلة العامل الأقوى في استنزاف طاقة الموظف.</a:t>
            </a:r>
          </a:p>
          <a:p>
            <a:pPr>
              <a:lnSpc>
                <a:spcPct val="115000"/>
              </a:lnSpc>
              <a:spcAft>
                <a:spcPts val="500"/>
              </a:spcAft>
            </a:pPr>
            <a:r>
              <a:rPr sz="1100">
                <a:solidFill>
                  <a:srgbClr val="FFFFFF"/>
                </a:solidFill>
                <a:latin typeface="Segoe UI"/>
              </a:rPr>
              <a:t>✦  2. overtime_hours_week (22.5%): العمل الإضافي غير المبرر.</a:t>
            </a:r>
          </a:p>
          <a:p>
            <a:pPr>
              <a:lnSpc>
                <a:spcPct val="115000"/>
              </a:lnSpc>
              <a:spcAft>
                <a:spcPts val="500"/>
              </a:spcAft>
            </a:pPr>
            <a:r>
              <a:rPr sz="1100">
                <a:solidFill>
                  <a:srgbClr val="FFFFFF"/>
                </a:solidFill>
                <a:latin typeface="Segoe UI"/>
              </a:rPr>
              <a:t>✦  3. tasks_assigned (13.0%): التشتت والضغط الذهني الناتج عن كثرة المهام المفتوحة في وقت واحد.</a:t>
            </a:r>
          </a:p>
          <a:p>
            <a:pPr>
              <a:lnSpc>
                <a:spcPct val="115000"/>
              </a:lnSpc>
              <a:spcAft>
                <a:spcPts val="500"/>
              </a:spcAft>
            </a:pPr>
            <a:r>
              <a:rPr sz="1100">
                <a:solidFill>
                  <a:srgbClr val="FFFFFF"/>
                </a:solidFill>
                <a:latin typeface="Segoe UI"/>
              </a:rPr>
              <a:t>✦  4. absence_days &amp; late_arrivals (19.4%): مؤشرات مبكرة على الهروب الوظيفي والاحتراق النفسي.</a:t>
            </a:r>
          </a:p>
          <a:p>
            <a:pPr>
              <a:lnSpc>
                <a:spcPct val="115000"/>
              </a:lnSpc>
              <a:spcAft>
                <a:spcPts val="500"/>
              </a:spcAft>
            </a:pPr>
            <a:r>
              <a:rPr sz="1100">
                <a:solidFill>
                  <a:srgbClr val="FFFFFF"/>
                </a:solidFill>
                <a:latin typeface="Segoe UI"/>
              </a:rPr>
              <a:t>✦  5. vacation_days (9.1%): عامل وقائي يقلل من حدة الضغط.</a:t>
            </a:r>
          </a:p>
          <a:p>
            <a:pPr>
              <a:lnSpc>
                <a:spcPct val="115000"/>
              </a:lnSpc>
              <a:spcAft>
                <a:spcPts val="500"/>
              </a:spcAft>
            </a:pPr>
            <a:r>
              <a:rPr sz="1100">
                <a:solidFill>
                  <a:srgbClr val="FFFFFF"/>
                </a:solidFill>
                <a:latin typeface="Segoe UI"/>
              </a:rPr>
              <a:t>✦  هذه الأوزان يتم الاعتماد عليها لاحقاً في تفسير الأسباب (Explainability).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8229600" cy="457200"/>
          </a:xfrm>
          <a:prstGeom prst="rect">
            <a:avLst/>
          </a:prstGeom>
          <a:noFill/>
        </p:spPr>
        <p:txBody>
          <a:bodyPr wrap="square">
            <a:spAutoFit/>
          </a:bodyPr>
          <a:lstStyle/>
          <a:p>
            <a:pPr algn="l"/>
            <a:r>
              <a:rPr sz="2200" b="1">
                <a:solidFill>
                  <a:srgbClr val="FBBF24"/>
                </a:solidFill>
                <a:latin typeface="Segoe UI"/>
              </a:rPr>
              <a:t>👤 دور المهندسة: Eng. Shimaa — NLP &amp; Sentiment Analysis</a:t>
            </a:r>
          </a:p>
        </p:txBody>
      </p:sp>
      <p:sp>
        <p:nvSpPr>
          <p:cNvPr id="4" name="TextBox 3"/>
          <p:cNvSpPr txBox="1"/>
          <p:nvPr/>
        </p:nvSpPr>
        <p:spPr>
          <a:xfrm>
            <a:off x="457200" y="777240"/>
            <a:ext cx="8229600" cy="320040"/>
          </a:xfrm>
          <a:prstGeom prst="rect">
            <a:avLst/>
          </a:prstGeom>
          <a:noFill/>
        </p:spPr>
        <p:txBody>
          <a:bodyPr wrap="square">
            <a:spAutoFit/>
          </a:bodyPr>
          <a:lstStyle/>
          <a:p>
            <a:pPr algn="l"/>
            <a:r>
              <a:rPr sz="1200" b="0">
                <a:solidFill>
                  <a:srgbClr val="94A3B8"/>
                </a:solidFill>
                <a:latin typeface="Segoe UI"/>
              </a:rPr>
              <a:t>المسؤولية: backend/sentiment.py (DistilBERT Pipeline)</a:t>
            </a:r>
          </a:p>
        </p:txBody>
      </p:sp>
      <p:sp>
        <p:nvSpPr>
          <p:cNvPr id="5" name="Rectangle 4"/>
          <p:cNvSpPr/>
          <p:nvPr/>
        </p:nvSpPr>
        <p:spPr>
          <a:xfrm>
            <a:off x="457200" y="1188720"/>
            <a:ext cx="3931920" cy="530352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188720"/>
            <a:ext cx="3931920" cy="73152"/>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25880"/>
            <a:ext cx="3566160" cy="320040"/>
          </a:xfrm>
          <a:prstGeom prst="rect">
            <a:avLst/>
          </a:prstGeom>
          <a:noFill/>
        </p:spPr>
        <p:txBody>
          <a:bodyPr wrap="square">
            <a:spAutoFit/>
          </a:bodyPr>
          <a:lstStyle/>
          <a:p>
            <a:pPr algn="l"/>
            <a:r>
              <a:rPr sz="1300" b="1">
                <a:solidFill>
                  <a:srgbClr val="FBBF24"/>
                </a:solidFill>
                <a:latin typeface="Segoe UI"/>
              </a:rPr>
              <a:t>موديل المحولات (DistilBERT Architecture)</a:t>
            </a:r>
          </a:p>
        </p:txBody>
      </p:sp>
      <p:sp>
        <p:nvSpPr>
          <p:cNvPr id="8" name="TextBox 7"/>
          <p:cNvSpPr txBox="1"/>
          <p:nvPr/>
        </p:nvSpPr>
        <p:spPr>
          <a:xfrm>
            <a:off x="640080" y="1737360"/>
            <a:ext cx="3566160" cy="4572000"/>
          </a:xfrm>
          <a:prstGeom prst="rect">
            <a:avLst/>
          </a:prstGeom>
          <a:noFill/>
        </p:spPr>
        <p:txBody>
          <a:bodyPr wrap="square">
            <a:spAutoFit/>
          </a:bodyPr>
          <a:lstStyle/>
          <a:p>
            <a:pPr>
              <a:lnSpc>
                <a:spcPct val="115000"/>
              </a:lnSpc>
              <a:spcAft>
                <a:spcPts val="500"/>
              </a:spcAft>
            </a:pPr>
            <a:r>
              <a:rPr sz="1100">
                <a:solidFill>
                  <a:srgbClr val="FFFFFF"/>
                </a:solidFill>
                <a:latin typeface="Segoe UI"/>
              </a:rPr>
              <a:t>✦  الموديل المستخدم: distilbert-base-uncased-finetuned-sst-2-english المعتمد من HuggingFace.</a:t>
            </a:r>
          </a:p>
          <a:p>
            <a:pPr>
              <a:lnSpc>
                <a:spcPct val="115000"/>
              </a:lnSpc>
              <a:spcAft>
                <a:spcPts val="500"/>
              </a:spcAft>
            </a:pPr>
            <a:r>
              <a:rPr sz="1100">
                <a:solidFill>
                  <a:srgbClr val="FFFFFF"/>
                </a:solidFill>
                <a:latin typeface="Segoe UI"/>
              </a:rPr>
              <a:t>✦  لماذا DistilBERT بالتحديد؟</a:t>
            </a:r>
          </a:p>
          <a:p>
            <a:pPr>
              <a:lnSpc>
                <a:spcPct val="115000"/>
              </a:lnSpc>
              <a:spcAft>
                <a:spcPts val="500"/>
              </a:spcAft>
            </a:pPr>
            <a:r>
              <a:rPr sz="1100">
                <a:solidFill>
                  <a:srgbClr val="FFFFFF"/>
                </a:solidFill>
                <a:latin typeface="Segoe UI"/>
              </a:rPr>
              <a:t>✦  هو نسخة مضغوطة ذكية من BERT تم تدريبها بأسلوب تقطير المعرفة (Knowledge Distillation)؛ يحتفظ بـ 97% من دقة BERT العملاق، لكنه أصغر بنسبة 40% وأسرع بنسبة 60%، ولا يستهلك ذاكرة السيرفر.</a:t>
            </a:r>
          </a:p>
          <a:p>
            <a:pPr>
              <a:lnSpc>
                <a:spcPct val="115000"/>
              </a:lnSpc>
              <a:spcAft>
                <a:spcPts val="500"/>
              </a:spcAft>
            </a:pPr>
            <a:r>
              <a:rPr sz="1100">
                <a:solidFill>
                  <a:srgbClr val="FFFFFF"/>
                </a:solidFill>
                <a:latin typeface="Segoe UI"/>
              </a:rPr>
              <a:t>✦  لماذا لم ندرب Transformer من الصفر؟ تدريب نموذج لغوي من الصفر يتطلب ملايين النصوص وعتاد سيرفرات خارق ومئات الساعات، بينما هذا الموديل مدرب على فهم دلالات اللغة الإنجليزية بدقة تتجاوز 91%.</a:t>
            </a:r>
          </a:p>
        </p:txBody>
      </p:sp>
      <p:sp>
        <p:nvSpPr>
          <p:cNvPr id="9" name="Rectangle 8"/>
          <p:cNvSpPr/>
          <p:nvPr/>
        </p:nvSpPr>
        <p:spPr>
          <a:xfrm>
            <a:off x="4754880" y="1188720"/>
            <a:ext cx="3931920" cy="530352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54880" y="1188720"/>
            <a:ext cx="393192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0" y="1325880"/>
            <a:ext cx="3566160" cy="320040"/>
          </a:xfrm>
          <a:prstGeom prst="rect">
            <a:avLst/>
          </a:prstGeom>
          <a:noFill/>
        </p:spPr>
        <p:txBody>
          <a:bodyPr wrap="square">
            <a:spAutoFit/>
          </a:bodyPr>
          <a:lstStyle/>
          <a:p>
            <a:pPr algn="l"/>
            <a:r>
              <a:rPr sz="1300" b="1">
                <a:solidFill>
                  <a:srgbClr val="34D399"/>
                </a:solidFill>
                <a:latin typeface="Segoe UI"/>
              </a:rPr>
              <a:t>التحويل الرياضي لدالة sentiment_risk()</a:t>
            </a:r>
          </a:p>
        </p:txBody>
      </p:sp>
      <p:sp>
        <p:nvSpPr>
          <p:cNvPr id="12" name="TextBox 11"/>
          <p:cNvSpPr txBox="1"/>
          <p:nvPr/>
        </p:nvSpPr>
        <p:spPr>
          <a:xfrm>
            <a:off x="4937760" y="1737360"/>
            <a:ext cx="3566160" cy="4572000"/>
          </a:xfrm>
          <a:prstGeom prst="rect">
            <a:avLst/>
          </a:prstGeom>
          <a:noFill/>
        </p:spPr>
        <p:txBody>
          <a:bodyPr wrap="square">
            <a:spAutoFit/>
          </a:bodyPr>
          <a:lstStyle/>
          <a:p>
            <a:pPr>
              <a:lnSpc>
                <a:spcPct val="115000"/>
              </a:lnSpc>
              <a:spcAft>
                <a:spcPts val="500"/>
              </a:spcAft>
            </a:pPr>
            <a:r>
              <a:rPr sz="1100">
                <a:solidFill>
                  <a:srgbClr val="FFFFFF"/>
                </a:solidFill>
                <a:latin typeface="Segoe UI"/>
              </a:rPr>
              <a:t>✦  الموديل يخرج تصنيفاً ثنائياً (POSITIVE / NEGATIVE) مع معامل ثقة confidence بين [0.5 إلى 1.0].</a:t>
            </a:r>
          </a:p>
          <a:p>
            <a:pPr>
              <a:lnSpc>
                <a:spcPct val="115000"/>
              </a:lnSpc>
              <a:spcAft>
                <a:spcPts val="500"/>
              </a:spcAft>
            </a:pPr>
            <a:r>
              <a:rPr sz="1100">
                <a:solidFill>
                  <a:srgbClr val="FFFFFF"/>
                </a:solidFill>
                <a:latin typeface="Segoe UI"/>
              </a:rPr>
              <a:t>✦  معادلة التحويل لخطر نسبي [0.0 إلى 1.0]:</a:t>
            </a:r>
          </a:p>
          <a:p>
            <a:pPr>
              <a:lnSpc>
                <a:spcPct val="115000"/>
              </a:lnSpc>
              <a:spcAft>
                <a:spcPts val="500"/>
              </a:spcAft>
            </a:pPr>
            <a:r>
              <a:rPr sz="1100">
                <a:solidFill>
                  <a:srgbClr val="FFFFFF"/>
                </a:solidFill>
                <a:latin typeface="Segoe UI"/>
              </a:rPr>
              <a:t>✦  إذا كان التوقع NEGATIVE: الخطر = confidence (مثلاً جملة مرهقة بثقة 97% تخرج خطر مشاعر = 0.97).</a:t>
            </a:r>
          </a:p>
          <a:p>
            <a:pPr>
              <a:lnSpc>
                <a:spcPct val="115000"/>
              </a:lnSpc>
              <a:spcAft>
                <a:spcPts val="500"/>
              </a:spcAft>
            </a:pPr>
            <a:r>
              <a:rPr sz="1100">
                <a:solidFill>
                  <a:srgbClr val="FFFFFF"/>
                </a:solidFill>
                <a:latin typeface="Segoe UI"/>
              </a:rPr>
              <a:t>✦  إذا كان التوقع POSITIVE: الخطر = 1.0 - confidence (مثلاً جملة متفائلة بثقة 98% تخرج خطر مشاعر = 0.02 فقط).</a:t>
            </a:r>
          </a:p>
          <a:p>
            <a:pPr>
              <a:lnSpc>
                <a:spcPct val="115000"/>
              </a:lnSpc>
              <a:spcAft>
                <a:spcPts val="500"/>
              </a:spcAft>
            </a:pPr>
            <a:r>
              <a:rPr sz="1100">
                <a:solidFill>
                  <a:srgbClr val="FFFFFF"/>
                </a:solidFill>
                <a:latin typeface="Segoe UI"/>
              </a:rPr>
              <a:t>✦  تحسين الأداء (Caching Optimization): يتم تخزين نتائج النصوص في كاش ذكي حتى لا يتم استدعاء الموديل للنصوص المكررة مما يجعل النظام فائق السرعة.</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C0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8229600" cy="457200"/>
          </a:xfrm>
          <a:prstGeom prst="rect">
            <a:avLst/>
          </a:prstGeom>
          <a:noFill/>
        </p:spPr>
        <p:txBody>
          <a:bodyPr wrap="square">
            <a:spAutoFit/>
          </a:bodyPr>
          <a:lstStyle/>
          <a:p>
            <a:pPr algn="l"/>
            <a:r>
              <a:rPr sz="2200" b="1">
                <a:solidFill>
                  <a:srgbClr val="C084FC"/>
                </a:solidFill>
                <a:latin typeface="Segoe UI"/>
              </a:rPr>
              <a:t>👤 دور المهندس: Eng. Ahmed — Backend, Risk Engine &amp; PostgreSQL</a:t>
            </a:r>
          </a:p>
        </p:txBody>
      </p:sp>
      <p:sp>
        <p:nvSpPr>
          <p:cNvPr id="4" name="TextBox 3"/>
          <p:cNvSpPr txBox="1"/>
          <p:nvPr/>
        </p:nvSpPr>
        <p:spPr>
          <a:xfrm>
            <a:off x="457200" y="777240"/>
            <a:ext cx="8229600" cy="320040"/>
          </a:xfrm>
          <a:prstGeom prst="rect">
            <a:avLst/>
          </a:prstGeom>
          <a:noFill/>
        </p:spPr>
        <p:txBody>
          <a:bodyPr wrap="square">
            <a:spAutoFit/>
          </a:bodyPr>
          <a:lstStyle/>
          <a:p>
            <a:pPr algn="l"/>
            <a:r>
              <a:rPr sz="1200" b="0">
                <a:solidFill>
                  <a:srgbClr val="94A3B8"/>
                </a:solidFill>
                <a:latin typeface="Segoe UI"/>
              </a:rPr>
              <a:t>المسؤولية: backend/main.py | backend/database.py | backend/risk.py | explain.py</a:t>
            </a:r>
          </a:p>
        </p:txBody>
      </p:sp>
      <p:sp>
        <p:nvSpPr>
          <p:cNvPr id="5" name="Rectangle 4"/>
          <p:cNvSpPr/>
          <p:nvPr/>
        </p:nvSpPr>
        <p:spPr>
          <a:xfrm>
            <a:off x="457200" y="1188720"/>
            <a:ext cx="3931920" cy="530352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188720"/>
            <a:ext cx="3931920" cy="73152"/>
          </a:xfrm>
          <a:prstGeom prst="rect">
            <a:avLst/>
          </a:prstGeom>
          <a:solidFill>
            <a:srgbClr val="C0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25880"/>
            <a:ext cx="3566160" cy="320040"/>
          </a:xfrm>
          <a:prstGeom prst="rect">
            <a:avLst/>
          </a:prstGeom>
          <a:noFill/>
        </p:spPr>
        <p:txBody>
          <a:bodyPr wrap="square">
            <a:spAutoFit/>
          </a:bodyPr>
          <a:lstStyle/>
          <a:p>
            <a:pPr algn="l"/>
            <a:r>
              <a:rPr sz="1300" b="1">
                <a:solidFill>
                  <a:srgbClr val="C084FC"/>
                </a:solidFill>
                <a:latin typeface="Segoe UI"/>
              </a:rPr>
              <a:t>1. الباك إند وقواعد البيانات المؤسسية</a:t>
            </a:r>
          </a:p>
        </p:txBody>
      </p:sp>
      <p:sp>
        <p:nvSpPr>
          <p:cNvPr id="8" name="TextBox 7"/>
          <p:cNvSpPr txBox="1"/>
          <p:nvPr/>
        </p:nvSpPr>
        <p:spPr>
          <a:xfrm>
            <a:off x="640080" y="1737360"/>
            <a:ext cx="3566160" cy="4572000"/>
          </a:xfrm>
          <a:prstGeom prst="rect">
            <a:avLst/>
          </a:prstGeom>
          <a:noFill/>
        </p:spPr>
        <p:txBody>
          <a:bodyPr wrap="square">
            <a:spAutoFit/>
          </a:bodyPr>
          <a:lstStyle/>
          <a:p>
            <a:pPr>
              <a:lnSpc>
                <a:spcPct val="115000"/>
              </a:lnSpc>
              <a:spcAft>
                <a:spcPts val="500"/>
              </a:spcAft>
            </a:pPr>
            <a:r>
              <a:rPr sz="1100">
                <a:solidFill>
                  <a:srgbClr val="FFFFFF"/>
                </a:solidFill>
                <a:latin typeface="Segoe UI"/>
              </a:rPr>
              <a:t>✦  FastAPI Framework: إطار عمل حديث عالي السرعة مبني على ASGI يدعم العمليات غير المتزامنة Asynchronous والتحقق التلقائي بـ Pydantic.</a:t>
            </a:r>
          </a:p>
          <a:p>
            <a:pPr>
              <a:lnSpc>
                <a:spcPct val="115000"/>
              </a:lnSpc>
              <a:spcAft>
                <a:spcPts val="500"/>
              </a:spcAft>
            </a:pPr>
            <a:r>
              <a:rPr sz="1100">
                <a:solidFill>
                  <a:srgbClr val="FFFFFF"/>
                </a:solidFill>
                <a:latin typeface="Segoe UI"/>
              </a:rPr>
              <a:t>✦  SQLAlchemy ORM &amp; PostgreSQL: قاعدة بيانات مؤسسية حقيقية تدعم PostgreSQL السحابي (Render / AWS) عبر DATABASE_URL مع جداول Users و Assessments.</a:t>
            </a:r>
          </a:p>
          <a:p>
            <a:pPr>
              <a:lnSpc>
                <a:spcPct val="115000"/>
              </a:lnSpc>
              <a:spcAft>
                <a:spcPts val="500"/>
              </a:spcAft>
            </a:pPr>
            <a:r>
              <a:rPr sz="1100">
                <a:solidFill>
                  <a:srgbClr val="FFFFFF"/>
                </a:solidFill>
                <a:latin typeface="Segoe UI"/>
              </a:rPr>
              <a:t>✦  أمان وتشفير الحسابات: استخدام خوارزمية التشفير القياسية العالمية (Native bcrypt) مع salt لمنع أي اختراق لكلمات المرور.</a:t>
            </a:r>
          </a:p>
          <a:p>
            <a:pPr>
              <a:lnSpc>
                <a:spcPct val="115000"/>
              </a:lnSpc>
              <a:spcAft>
                <a:spcPts val="500"/>
              </a:spcAft>
            </a:pPr>
            <a:r>
              <a:rPr sz="1100">
                <a:solidFill>
                  <a:srgbClr val="FFFFFF"/>
                </a:solidFill>
                <a:latin typeface="Segoe UI"/>
              </a:rPr>
              <a:t>✦  نظام الصلاحيات (Role-Based Access): فصل كامل بين Admin (HR) والموظفين.</a:t>
            </a:r>
          </a:p>
        </p:txBody>
      </p:sp>
      <p:sp>
        <p:nvSpPr>
          <p:cNvPr id="9" name="Rectangle 8"/>
          <p:cNvSpPr/>
          <p:nvPr/>
        </p:nvSpPr>
        <p:spPr>
          <a:xfrm>
            <a:off x="4754880" y="1188720"/>
            <a:ext cx="3931920" cy="530352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54880" y="1188720"/>
            <a:ext cx="393192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0" y="1325880"/>
            <a:ext cx="3566160" cy="320040"/>
          </a:xfrm>
          <a:prstGeom prst="rect">
            <a:avLst/>
          </a:prstGeom>
          <a:noFill/>
        </p:spPr>
        <p:txBody>
          <a:bodyPr wrap="square">
            <a:spAutoFit/>
          </a:bodyPr>
          <a:lstStyle/>
          <a:p>
            <a:pPr algn="l"/>
            <a:r>
              <a:rPr sz="1300" b="1">
                <a:solidFill>
                  <a:srgbClr val="38BDF8"/>
                </a:solidFill>
                <a:latin typeface="Segoe UI"/>
              </a:rPr>
              <a:t>2. محرك المخاطر والـ Explainability (SHAP)</a:t>
            </a:r>
          </a:p>
        </p:txBody>
      </p:sp>
      <p:sp>
        <p:nvSpPr>
          <p:cNvPr id="12" name="TextBox 11"/>
          <p:cNvSpPr txBox="1"/>
          <p:nvPr/>
        </p:nvSpPr>
        <p:spPr>
          <a:xfrm>
            <a:off x="4937760" y="1737360"/>
            <a:ext cx="3566160" cy="4572000"/>
          </a:xfrm>
          <a:prstGeom prst="rect">
            <a:avLst/>
          </a:prstGeom>
          <a:noFill/>
        </p:spPr>
        <p:txBody>
          <a:bodyPr wrap="square">
            <a:spAutoFit/>
          </a:bodyPr>
          <a:lstStyle/>
          <a:p>
            <a:pPr>
              <a:lnSpc>
                <a:spcPct val="115000"/>
              </a:lnSpc>
              <a:spcAft>
                <a:spcPts val="500"/>
              </a:spcAft>
            </a:pPr>
            <a:r>
              <a:rPr sz="1100">
                <a:solidFill>
                  <a:srgbClr val="FFFFFF"/>
                </a:solidFill>
                <a:latin typeface="Segoe UI"/>
              </a:rPr>
              <a:t>✦  معادلة محرك المخاطر (risk.py):</a:t>
            </a:r>
          </a:p>
          <a:p>
            <a:pPr>
              <a:lnSpc>
                <a:spcPct val="115000"/>
              </a:lnSpc>
              <a:spcAft>
                <a:spcPts val="500"/>
              </a:spcAft>
            </a:pPr>
            <a:r>
              <a:rPr sz="1100">
                <a:solidFill>
                  <a:srgbClr val="FFFFFF"/>
                </a:solidFill>
                <a:latin typeface="Segoe UI"/>
              </a:rPr>
              <a:t>✦  Risk Score = (0.60 × Workload_Prob + 0.40 × Sentiment_Risk) × 100</a:t>
            </a:r>
          </a:p>
          <a:p>
            <a:pPr>
              <a:lnSpc>
                <a:spcPct val="115000"/>
              </a:lnSpc>
              <a:spcAft>
                <a:spcPts val="500"/>
              </a:spcAft>
            </a:pPr>
            <a:r>
              <a:rPr sz="1100">
                <a:solidFill>
                  <a:srgbClr val="FFFFFF"/>
                </a:solidFill>
                <a:latin typeface="Segoe UI"/>
              </a:rPr>
              <a:t>✦  التصنيف الطبي للمخاطر:</a:t>
            </a:r>
          </a:p>
          <a:p>
            <a:pPr>
              <a:lnSpc>
                <a:spcPct val="115000"/>
              </a:lnSpc>
              <a:spcAft>
                <a:spcPts val="500"/>
              </a:spcAft>
            </a:pPr>
            <a:r>
              <a:rPr sz="1100">
                <a:solidFill>
                  <a:srgbClr val="FFFFFF"/>
                </a:solidFill>
                <a:latin typeface="Segoe UI"/>
              </a:rPr>
              <a:t>✦  Low (&lt;34 أخضر)  |  Medium (34-66 أصفر)  |  High (&gt;=67 أحمر)</a:t>
            </a:r>
          </a:p>
          <a:p>
            <a:pPr>
              <a:lnSpc>
                <a:spcPct val="115000"/>
              </a:lnSpc>
              <a:spcAft>
                <a:spcPts val="500"/>
              </a:spcAft>
            </a:pPr>
            <a:r>
              <a:rPr sz="1100">
                <a:solidFill>
                  <a:srgbClr val="FFFFFF"/>
                </a:solidFill>
                <a:latin typeface="Segoe UI"/>
              </a:rPr>
              <a:t>✦  الذكاء الاصطناعي القابل للتفسير (SHAP TreeExplainer):</a:t>
            </a:r>
          </a:p>
          <a:p>
            <a:pPr>
              <a:lnSpc>
                <a:spcPct val="115000"/>
              </a:lnSpc>
              <a:spcAft>
                <a:spcPts val="500"/>
              </a:spcAft>
            </a:pPr>
            <a:r>
              <a:rPr sz="1100">
                <a:solidFill>
                  <a:srgbClr val="FFFFFF"/>
                </a:solidFill>
                <a:latin typeface="Segoe UI"/>
              </a:rPr>
              <a:t>✦  يحلل مساهمة كل ميزة لهذا الموظف تحديداً ويستخرج أهم 3 أسباب حقيقية رفعت الخطر (مثل: أوفرتايم مفرط، ضغط مهام، مشاعر سلبية).</a:t>
            </a:r>
          </a:p>
          <a:p>
            <a:pPr>
              <a:lnSpc>
                <a:spcPct val="115000"/>
              </a:lnSpc>
              <a:spcAft>
                <a:spcPts val="500"/>
              </a:spcAft>
            </a:pPr>
            <a:r>
              <a:rPr sz="1100">
                <a:solidFill>
                  <a:srgbClr val="FFFFFF"/>
                </a:solidFill>
                <a:latin typeface="Segoe UI"/>
              </a:rPr>
              <a:t>✦  نظام بديل (Fallback Safety): صُمم كود احتياطي يضمن عدم انهيار السيرفر لو تعطلت مكتبة SHAP لأي سبب.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8229600" cy="457200"/>
          </a:xfrm>
          <a:prstGeom prst="rect">
            <a:avLst/>
          </a:prstGeom>
          <a:noFill/>
        </p:spPr>
        <p:txBody>
          <a:bodyPr wrap="square">
            <a:spAutoFit/>
          </a:bodyPr>
          <a:lstStyle/>
          <a:p>
            <a:pPr algn="l"/>
            <a:r>
              <a:rPr sz="2200" b="1">
                <a:solidFill>
                  <a:srgbClr val="F87171"/>
                </a:solidFill>
                <a:latin typeface="Segoe UI"/>
              </a:rPr>
              <a:t>👤 دور المهندس: Eng. Noury — Frontend UI &amp; System Integration</a:t>
            </a:r>
          </a:p>
        </p:txBody>
      </p:sp>
      <p:sp>
        <p:nvSpPr>
          <p:cNvPr id="4" name="TextBox 3"/>
          <p:cNvSpPr txBox="1"/>
          <p:nvPr/>
        </p:nvSpPr>
        <p:spPr>
          <a:xfrm>
            <a:off x="457200" y="777240"/>
            <a:ext cx="8229600" cy="320040"/>
          </a:xfrm>
          <a:prstGeom prst="rect">
            <a:avLst/>
          </a:prstGeom>
          <a:noFill/>
        </p:spPr>
        <p:txBody>
          <a:bodyPr wrap="square">
            <a:spAutoFit/>
          </a:bodyPr>
          <a:lstStyle/>
          <a:p>
            <a:pPr algn="l"/>
            <a:r>
              <a:rPr sz="1200" b="0">
                <a:solidFill>
                  <a:srgbClr val="94A3B8"/>
                </a:solidFill>
                <a:latin typeface="Segoe UI"/>
              </a:rPr>
              <a:t>المسؤولية: frontend/ (HTML/CSS/JS, i18n.js, auth.js, Chart.js)</a:t>
            </a:r>
          </a:p>
        </p:txBody>
      </p:sp>
      <p:sp>
        <p:nvSpPr>
          <p:cNvPr id="5" name="Rectangle 4"/>
          <p:cNvSpPr/>
          <p:nvPr/>
        </p:nvSpPr>
        <p:spPr>
          <a:xfrm>
            <a:off x="457200" y="1188720"/>
            <a:ext cx="3931920" cy="530352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188720"/>
            <a:ext cx="3931920" cy="73152"/>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25880"/>
            <a:ext cx="3566160" cy="320040"/>
          </a:xfrm>
          <a:prstGeom prst="rect">
            <a:avLst/>
          </a:prstGeom>
          <a:noFill/>
        </p:spPr>
        <p:txBody>
          <a:bodyPr wrap="square">
            <a:spAutoFit/>
          </a:bodyPr>
          <a:lstStyle/>
          <a:p>
            <a:pPr algn="l"/>
            <a:r>
              <a:rPr sz="1300" b="1">
                <a:solidFill>
                  <a:srgbClr val="F87171"/>
                </a:solidFill>
                <a:latin typeface="Segoe UI"/>
              </a:rPr>
              <a:t>1. الواجهات وتجربة المستخدم (UI/UX)</a:t>
            </a:r>
          </a:p>
        </p:txBody>
      </p:sp>
      <p:sp>
        <p:nvSpPr>
          <p:cNvPr id="8" name="TextBox 7"/>
          <p:cNvSpPr txBox="1"/>
          <p:nvPr/>
        </p:nvSpPr>
        <p:spPr>
          <a:xfrm>
            <a:off x="640080" y="1737360"/>
            <a:ext cx="3566160" cy="4572000"/>
          </a:xfrm>
          <a:prstGeom prst="rect">
            <a:avLst/>
          </a:prstGeom>
          <a:noFill/>
        </p:spPr>
        <p:txBody>
          <a:bodyPr wrap="square">
            <a:spAutoFit/>
          </a:bodyPr>
          <a:lstStyle/>
          <a:p>
            <a:pPr>
              <a:lnSpc>
                <a:spcPct val="115000"/>
              </a:lnSpc>
              <a:spcAft>
                <a:spcPts val="500"/>
              </a:spcAft>
            </a:pPr>
            <a:r>
              <a:rPr sz="1100">
                <a:solidFill>
                  <a:srgbClr val="FFFFFF"/>
                </a:solidFill>
                <a:latin typeface="Segoe UI"/>
              </a:rPr>
              <a:t>✦  login.html: صفحة دخول حديثة تدعم تسجيل الدخول وإنشاء حساب موظف جديد باسم فريد (Unique).</a:t>
            </a:r>
          </a:p>
          <a:p>
            <a:pPr>
              <a:lnSpc>
                <a:spcPct val="115000"/>
              </a:lnSpc>
              <a:spcAft>
                <a:spcPts val="500"/>
              </a:spcAft>
            </a:pPr>
            <a:r>
              <a:rPr sz="1100">
                <a:solidFill>
                  <a:srgbClr val="FFFFFF"/>
                </a:solidFill>
                <a:latin typeface="Segoe UI"/>
              </a:rPr>
              <a:t>✦  index.html: لوحة تحكم الأدمن (كروت إحصائية لايف، رسم بياني دائري وأعمدة عبر Chart.js لنسب المخاطر).</a:t>
            </a:r>
          </a:p>
          <a:p>
            <a:pPr>
              <a:lnSpc>
                <a:spcPct val="115000"/>
              </a:lnSpc>
              <a:spcAft>
                <a:spcPts val="500"/>
              </a:spcAft>
            </a:pPr>
            <a:r>
              <a:rPr sz="1100">
                <a:solidFill>
                  <a:srgbClr val="FFFFFF"/>
                </a:solidFill>
                <a:latin typeface="Segoe UI"/>
              </a:rPr>
              <a:t>✦  employees.html: جدول الـ 50 موظف مع شريط بحث فوري بالاسم/الرقم وفلترة بالألوان للمخاطر.</a:t>
            </a:r>
          </a:p>
          <a:p>
            <a:pPr>
              <a:lnSpc>
                <a:spcPct val="115000"/>
              </a:lnSpc>
              <a:spcAft>
                <a:spcPts val="500"/>
              </a:spcAft>
            </a:pPr>
            <a:r>
              <a:rPr sz="1100">
                <a:solidFill>
                  <a:srgbClr val="FFFFFF"/>
                </a:solidFill>
                <a:latin typeface="Segoe UI"/>
              </a:rPr>
              <a:t>✦  employee-portal.html: بوابة الموظف الشخصية لرؤية تشخيصه، وزرار تحديث التقييم، وجدول سجل التقييمات السابقة عبر الزمن (Assessment History Log).</a:t>
            </a:r>
          </a:p>
        </p:txBody>
      </p:sp>
      <p:sp>
        <p:nvSpPr>
          <p:cNvPr id="9" name="Rectangle 8"/>
          <p:cNvSpPr/>
          <p:nvPr/>
        </p:nvSpPr>
        <p:spPr>
          <a:xfrm>
            <a:off x="4754880" y="1188720"/>
            <a:ext cx="3931920" cy="5303520"/>
          </a:xfrm>
          <a:prstGeom prst="rect">
            <a:avLst/>
          </a:prstGeom>
          <a:solidFill>
            <a:srgbClr val="1E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54880" y="1188720"/>
            <a:ext cx="3931920" cy="73152"/>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0" y="1325880"/>
            <a:ext cx="3566160" cy="320040"/>
          </a:xfrm>
          <a:prstGeom prst="rect">
            <a:avLst/>
          </a:prstGeom>
          <a:noFill/>
        </p:spPr>
        <p:txBody>
          <a:bodyPr wrap="square">
            <a:spAutoFit/>
          </a:bodyPr>
          <a:lstStyle/>
          <a:p>
            <a:pPr algn="l"/>
            <a:r>
              <a:rPr sz="1300" b="1">
                <a:solidFill>
                  <a:srgbClr val="FB923C"/>
                </a:solidFill>
                <a:latin typeface="Segoe UI"/>
              </a:rPr>
              <a:t>2. دعم العربية RTL والربط الحي مع الـ API</a:t>
            </a:r>
          </a:p>
        </p:txBody>
      </p:sp>
      <p:sp>
        <p:nvSpPr>
          <p:cNvPr id="12" name="TextBox 11"/>
          <p:cNvSpPr txBox="1"/>
          <p:nvPr/>
        </p:nvSpPr>
        <p:spPr>
          <a:xfrm>
            <a:off x="4937760" y="1737360"/>
            <a:ext cx="3566160" cy="4572000"/>
          </a:xfrm>
          <a:prstGeom prst="rect">
            <a:avLst/>
          </a:prstGeom>
          <a:noFill/>
        </p:spPr>
        <p:txBody>
          <a:bodyPr wrap="square">
            <a:spAutoFit/>
          </a:bodyPr>
          <a:lstStyle/>
          <a:p>
            <a:pPr>
              <a:lnSpc>
                <a:spcPct val="115000"/>
              </a:lnSpc>
              <a:spcAft>
                <a:spcPts val="500"/>
              </a:spcAft>
            </a:pPr>
            <a:r>
              <a:rPr sz="1100">
                <a:solidFill>
                  <a:srgbClr val="FFFFFF"/>
                </a:solidFill>
                <a:latin typeface="Segoe UI"/>
              </a:rPr>
              <a:t>✦  نظام الترجمة اللحظي (i18n.js): محرك ترجمة مدمج يحول الموقع بالكامل من الإنجليزية إلى العربية مع قلب اتجاه الصفحة RTL وتطبيق خط Cairo العربي بضغطة زر وبدون إعادة تحميل الصفحة.</a:t>
            </a:r>
          </a:p>
          <a:p>
            <a:pPr>
              <a:lnSpc>
                <a:spcPct val="115000"/>
              </a:lnSpc>
              <a:spcAft>
                <a:spcPts val="500"/>
              </a:spcAft>
            </a:pPr>
            <a:r>
              <a:rPr sz="1100">
                <a:solidFill>
                  <a:srgbClr val="FFFFFF"/>
                </a:solidFill>
                <a:latin typeface="Segoe UI"/>
              </a:rPr>
              <a:t>✦  حماية المسارات (auth.js): فحص صلاحيات المستخدم لمنع أي موظف من فتح صفحات الداشبورد والتحكم الخاصة بالأدمن.</a:t>
            </a:r>
          </a:p>
          <a:p>
            <a:pPr>
              <a:lnSpc>
                <a:spcPct val="115000"/>
              </a:lnSpc>
              <a:spcAft>
                <a:spcPts val="500"/>
              </a:spcAft>
            </a:pPr>
            <a:r>
              <a:rPr sz="1100">
                <a:solidFill>
                  <a:srgbClr val="FFFFFF"/>
                </a:solidFill>
                <a:latin typeface="Segoe UI"/>
              </a:rPr>
              <a:t>✦  استدعاءات الـ API: ربط حي باستخدام fetch()، معالجة رسائل الأخطاء، وعرض مؤشرات التحميل والسبينرز.</a:t>
            </a:r>
          </a:p>
          <a:p>
            <a:pPr>
              <a:lnSpc>
                <a:spcPct val="115000"/>
              </a:lnSpc>
              <a:spcAft>
                <a:spcPts val="500"/>
              </a:spcAft>
            </a:pPr>
            <a:r>
              <a:rPr sz="1100">
                <a:solidFill>
                  <a:srgbClr val="FFFFFF"/>
                </a:solidFill>
                <a:latin typeface="Segoe UI"/>
              </a:rPr>
              <a:t>✦  تصميم متجاوب Responsive: يعمل على أجهزة الكمبيوتر والشاشات المحمولة.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