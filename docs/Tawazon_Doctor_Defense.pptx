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F1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3716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64008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38BDF8"/>
                </a:solidFill>
                <a:latin typeface="Segoe UI"/>
              </a:rPr>
              <a:t>🚀 WORKPULSE ENTERPRISE — AI WORKPLACE WELLBEING PLATFORM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82296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>
                <a:solidFill>
                  <a:srgbClr val="FFFFFF"/>
                </a:solidFill>
                <a:latin typeface="Segoe UI"/>
              </a:rPr>
              <a:t>AI Workplace Burnout Risk Prediction
&amp; Explainable Decision Support System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92608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BBF24"/>
                </a:solidFill>
                <a:latin typeface="Segoe UI"/>
              </a:rPr>
              <a:t>☕ Because coffee alone can't fix an exhausted engineering team!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338328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94A3B8"/>
                </a:solidFill>
                <a:latin typeface="Segoe UI"/>
              </a:rPr>
              <a:t>نظام متكامل للكشف المبكر والذكي عن الاحتراق الوظيفي قبل وقوع الاستقالات</a:t>
            </a:r>
          </a:p>
        </p:txBody>
      </p:sp>
      <p:sp>
        <p:nvSpPr>
          <p:cNvPr id="7" name="Rectangle 6"/>
          <p:cNvSpPr/>
          <p:nvPr/>
        </p:nvSpPr>
        <p:spPr>
          <a:xfrm>
            <a:off x="914400" y="4023360"/>
            <a:ext cx="7315200" cy="2011680"/>
          </a:xfrm>
          <a:prstGeom prst="rect">
            <a:avLst/>
          </a:prstGeom>
          <a:solidFill>
            <a:srgbClr val="1E29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914400" y="4023360"/>
            <a:ext cx="7315200" cy="73152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97280" y="4160520"/>
            <a:ext cx="6949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BBF24"/>
                </a:solidFill>
                <a:latin typeface="Segoe UI"/>
              </a:rPr>
              <a:t>🎓 Developed by the Engineering Dream Team: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4572000"/>
            <a:ext cx="6949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Segoe UI"/>
              </a:rPr>
              <a:t>Eng. Assma  •  Eng. Abdullah  •  Eng. Shimaa  •  Eng. Ahmed  •  Eng. Noury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7280" y="5120640"/>
            <a:ext cx="6949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94A3B8"/>
                </a:solidFill>
                <a:latin typeface="Segoe UI"/>
              </a:rPr>
              <a:t>Supervised by Faculty Committee | Computer Science &amp; Artificial Intelligence Department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F1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F871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Segoe UI"/>
              </a:rPr>
              <a:t>1. The Reality: The Silent Burnout Epidemic 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7724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94A3B8"/>
                </a:solidFill>
                <a:latin typeface="Segoe UI"/>
              </a:rPr>
              <a:t>What happens when high performance turns into chronic exhaustion?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188720"/>
            <a:ext cx="3931920" cy="3840480"/>
          </a:xfrm>
          <a:prstGeom prst="rect">
            <a:avLst/>
          </a:prstGeom>
          <a:solidFill>
            <a:srgbClr val="1E29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1188720"/>
            <a:ext cx="3931920" cy="73152"/>
          </a:xfrm>
          <a:prstGeom prst="rect">
            <a:avLst/>
          </a:prstGeom>
          <a:solidFill>
            <a:srgbClr val="F871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3566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87171"/>
                </a:solidFill>
                <a:latin typeface="Segoe UI"/>
              </a:rPr>
              <a:t>📉 The Grim Corporate Statistics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737360"/>
            <a:ext cx="3566160" cy="3017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500"/>
              </a:spcAft>
            </a:pPr>
            <a:r>
              <a:rPr sz="1200">
                <a:solidFill>
                  <a:srgbClr val="FFFFFF"/>
                </a:solidFill>
                <a:latin typeface="Segoe UI"/>
              </a:rPr>
              <a:t>✦  77% of full-time employees report experiencing workplace burnout at least once.</a:t>
            </a:r>
          </a:p>
          <a:p>
            <a:pPr>
              <a:lnSpc>
                <a:spcPct val="115000"/>
              </a:lnSpc>
              <a:spcAft>
                <a:spcPts val="500"/>
              </a:spcAft>
            </a:pPr>
            <a:r>
              <a:rPr sz="1200">
                <a:solidFill>
                  <a:srgbClr val="FFFFFF"/>
                </a:solidFill>
                <a:latin typeface="Segoe UI"/>
              </a:rPr>
              <a:t>✦  $322 Billion lost annually in global productivity due to psychological disengagement.</a:t>
            </a:r>
          </a:p>
          <a:p>
            <a:pPr>
              <a:lnSpc>
                <a:spcPct val="115000"/>
              </a:lnSpc>
              <a:spcAft>
                <a:spcPts val="500"/>
              </a:spcAft>
            </a:pPr>
            <a:r>
              <a:rPr sz="1200">
                <a:solidFill>
                  <a:srgbClr val="FFFFFF"/>
                </a:solidFill>
                <a:latin typeface="Segoe UI"/>
              </a:rPr>
              <a:t>✦  Burnout is officially classified by WHO as an occupational phenomenon.</a:t>
            </a:r>
          </a:p>
          <a:p>
            <a:pPr>
              <a:lnSpc>
                <a:spcPct val="115000"/>
              </a:lnSpc>
              <a:spcAft>
                <a:spcPts val="500"/>
              </a:spcAft>
            </a:pPr>
            <a:r>
              <a:rPr sz="1200">
                <a:solidFill>
                  <a:srgbClr val="FFFFFF"/>
                </a:solidFill>
                <a:latin typeface="Segoe UI"/>
              </a:rPr>
              <a:t>✦  HR Dilemma: Traditional surveys happen once a year — the employee has already resigned by the time HR reads the survey!</a:t>
            </a:r>
          </a:p>
        </p:txBody>
      </p:sp>
      <p:sp>
        <p:nvSpPr>
          <p:cNvPr id="9" name="Rectangle 8"/>
          <p:cNvSpPr/>
          <p:nvPr/>
        </p:nvSpPr>
        <p:spPr>
          <a:xfrm>
            <a:off x="4754880" y="1188720"/>
            <a:ext cx="3931920" cy="3840480"/>
          </a:xfrm>
          <a:prstGeom prst="rect">
            <a:avLst/>
          </a:prstGeom>
          <a:solidFill>
            <a:srgbClr val="1E29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754880" y="1188720"/>
            <a:ext cx="3931920" cy="73152"/>
          </a:xfrm>
          <a:prstGeom prst="rect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937760" y="1325880"/>
            <a:ext cx="3566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BBF24"/>
                </a:solidFill>
                <a:latin typeface="Segoe UI"/>
              </a:rPr>
              <a:t>💡 The Humor vs. Reality Check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937760" y="1737360"/>
            <a:ext cx="3566160" cy="3017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500"/>
              </a:spcAft>
            </a:pPr>
            <a:r>
              <a:rPr sz="1200">
                <a:solidFill>
                  <a:srgbClr val="FFFFFF"/>
                </a:solidFill>
                <a:latin typeface="Segoe UI"/>
              </a:rPr>
              <a:t>✦  Meme Reality: 'I am not a workaholic, I'm just trapped in an endless loop of urgent meetings!' 🥲</a:t>
            </a:r>
          </a:p>
          <a:p>
            <a:pPr>
              <a:lnSpc>
                <a:spcPct val="115000"/>
              </a:lnSpc>
              <a:spcAft>
                <a:spcPts val="500"/>
              </a:spcAft>
            </a:pPr>
            <a:r>
              <a:rPr sz="1200">
                <a:solidFill>
                  <a:srgbClr val="FFFFFF"/>
                </a:solidFill>
                <a:latin typeface="Segoe UI"/>
              </a:rPr>
              <a:t>✦  Employee Stage 1: 'Sure, I can take 5 more tasks!' 😃</a:t>
            </a:r>
          </a:p>
          <a:p>
            <a:pPr>
              <a:lnSpc>
                <a:spcPct val="115000"/>
              </a:lnSpc>
              <a:spcAft>
                <a:spcPts val="500"/>
              </a:spcAft>
            </a:pPr>
            <a:r>
              <a:rPr sz="1200">
                <a:solidFill>
                  <a:srgbClr val="FFFFFF"/>
                </a:solidFill>
                <a:latin typeface="Segoe UI"/>
              </a:rPr>
              <a:t>✦  Employee Stage 2: 'Why is my screen screaming at me?' 😵‍💫</a:t>
            </a:r>
          </a:p>
          <a:p>
            <a:pPr>
              <a:lnSpc>
                <a:spcPct val="115000"/>
              </a:lnSpc>
              <a:spcAft>
                <a:spcPts val="500"/>
              </a:spcAft>
            </a:pPr>
            <a:r>
              <a:rPr sz="1200">
                <a:solidFill>
                  <a:srgbClr val="FFFFFF"/>
                </a:solidFill>
                <a:latin typeface="Segoe UI"/>
              </a:rPr>
              <a:t>✦  Employee Stage 3: Disappears with zero notice and 10 overdue Jira tickets! 🏃💨</a:t>
            </a:r>
          </a:p>
          <a:p>
            <a:pPr>
              <a:lnSpc>
                <a:spcPct val="115000"/>
              </a:lnSpc>
              <a:spcAft>
                <a:spcPts val="500"/>
              </a:spcAft>
            </a:pPr>
            <a:r>
              <a:rPr sz="1200">
                <a:solidFill>
                  <a:srgbClr val="FFFFFF"/>
                </a:solidFill>
                <a:latin typeface="Segoe UI"/>
              </a:rPr>
              <a:t>✦  Goal of WorkPulse: Catching the employee in Stage 1 before reaching Stage 3!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" y="5212080"/>
            <a:ext cx="8229600" cy="1188720"/>
          </a:xfrm>
          <a:prstGeom prst="rect">
            <a:avLst/>
          </a:prstGeom>
          <a:solidFill>
            <a:srgbClr val="1E29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57200" y="5212080"/>
            <a:ext cx="8229600" cy="73152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31520" y="5486400"/>
            <a:ext cx="7680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34D399"/>
                </a:solidFill>
                <a:latin typeface="Segoe UI"/>
              </a:rPr>
              <a:t>Our Mission: Transforming HR from reactive firefighting to intelligent proactive care.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F1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Segoe UI"/>
              </a:rPr>
              <a:t>2. Team Roles &amp; Contribution Matrix 👥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7724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94A3B8"/>
                </a:solidFill>
                <a:latin typeface="Segoe UI"/>
              </a:rPr>
              <a:t>Collaborative execution across 5 engineering disciplines: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80160"/>
            <a:ext cx="8229600" cy="914400"/>
          </a:xfrm>
          <a:prstGeom prst="rect">
            <a:avLst/>
          </a:prstGeom>
          <a:solidFill>
            <a:srgbClr val="1E29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1280160"/>
            <a:ext cx="8229600" cy="73152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371600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34D399"/>
                </a:solidFill>
                <a:latin typeface="Segoe UI"/>
              </a:rPr>
              <a:t>Eng. Assma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834640" y="13716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Segoe UI"/>
              </a:rPr>
              <a:t>Data Engineering &amp; EDA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834640" y="1664207"/>
            <a:ext cx="5669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94A3B8"/>
                </a:solidFill>
                <a:latin typeface="Segoe UI"/>
              </a:rPr>
              <a:t>Synthesized 50 employee profiles, math weight calibration with 10% Gaussian noise, and 6 statistical EDA charts.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2286000"/>
            <a:ext cx="8229600" cy="914400"/>
          </a:xfrm>
          <a:prstGeom prst="rect">
            <a:avLst/>
          </a:prstGeom>
          <a:solidFill>
            <a:srgbClr val="1E29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57200" y="2286000"/>
            <a:ext cx="8229600" cy="73152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31520" y="2377440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38BDF8"/>
                </a:solidFill>
                <a:latin typeface="Segoe UI"/>
              </a:rPr>
              <a:t>Eng. Abdullah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834640" y="237744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Segoe UI"/>
              </a:rPr>
              <a:t>ML Workload Modeling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834640" y="2670048"/>
            <a:ext cx="5669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94A3B8"/>
                </a:solidFill>
                <a:latin typeface="Segoe UI"/>
              </a:rPr>
              <a:t>Evaluated Logistic Regression baseline vs Random Forest (F1: 0.83), feature importance and confusion matrix.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57200" y="3291840"/>
            <a:ext cx="8229600" cy="914400"/>
          </a:xfrm>
          <a:prstGeom prst="rect">
            <a:avLst/>
          </a:prstGeom>
          <a:solidFill>
            <a:srgbClr val="1E29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57200" y="3291840"/>
            <a:ext cx="8229600" cy="73152"/>
          </a:xfrm>
          <a:prstGeom prst="rect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31520" y="3383280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BBF24"/>
                </a:solidFill>
                <a:latin typeface="Segoe UI"/>
              </a:rPr>
              <a:t>Eng. Shimaa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834640" y="338328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Segoe UI"/>
              </a:rPr>
              <a:t>NLP Sentiment Intelligence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834640" y="3675888"/>
            <a:ext cx="5669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94A3B8"/>
                </a:solidFill>
                <a:latin typeface="Segoe UI"/>
              </a:rPr>
              <a:t>Integrated DistilBERT Transformer, created continuous sentiment risk mapping [0 to 1], and caching.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57200" y="4297680"/>
            <a:ext cx="8229600" cy="914400"/>
          </a:xfrm>
          <a:prstGeom prst="rect">
            <a:avLst/>
          </a:prstGeom>
          <a:solidFill>
            <a:srgbClr val="1E29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457200" y="4297680"/>
            <a:ext cx="8229600" cy="73152"/>
          </a:xfrm>
          <a:prstGeom prst="rect">
            <a:avLst/>
          </a:prstGeom>
          <a:solidFill>
            <a:srgbClr val="C084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31520" y="4389120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C084FC"/>
                </a:solidFill>
                <a:latin typeface="Segoe UI"/>
              </a:rPr>
              <a:t>Eng. Ahmed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834640" y="438912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Segoe UI"/>
              </a:rPr>
              <a:t>Backend &amp; PostgreSQL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834640" y="4681728"/>
            <a:ext cx="5669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94A3B8"/>
                </a:solidFill>
                <a:latin typeface="Segoe UI"/>
              </a:rPr>
              <a:t>Engineered FastAPI microservice, 60/40 Risk Engine, SHAP Explainable AI, native bcrypt, and PostgreSQL DB.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57200" y="5303520"/>
            <a:ext cx="8229600" cy="914400"/>
          </a:xfrm>
          <a:prstGeom prst="rect">
            <a:avLst/>
          </a:prstGeom>
          <a:solidFill>
            <a:srgbClr val="1E29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457200" y="5303520"/>
            <a:ext cx="8229600" cy="73152"/>
          </a:xfrm>
          <a:prstGeom prst="rect">
            <a:avLst/>
          </a:prstGeom>
          <a:solidFill>
            <a:srgbClr val="F871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31520" y="5394960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87171"/>
                </a:solidFill>
                <a:latin typeface="Segoe UI"/>
              </a:rPr>
              <a:t>Eng. Noury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834640" y="539496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Segoe UI"/>
              </a:rPr>
              <a:t>Frontend &amp; Full Integration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834640" y="5687568"/>
            <a:ext cx="5669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94A3B8"/>
                </a:solidFill>
                <a:latin typeface="Segoe UI"/>
              </a:rPr>
              <a:t>Developed bilingual RTL/LTR interface with Cairo typography, Admin live dashboard, and Employee Re-assessment portal.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F1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C084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Segoe UI"/>
              </a:rPr>
              <a:t>3. Multi-Modal AI Architecture &amp; Risk Engine 🧠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188720"/>
            <a:ext cx="1920240" cy="1645920"/>
          </a:xfrm>
          <a:prstGeom prst="rect">
            <a:avLst/>
          </a:prstGeom>
          <a:solidFill>
            <a:srgbClr val="1E29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7200" y="1188720"/>
            <a:ext cx="1920240" cy="73152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371600"/>
            <a:ext cx="1737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38BDF8"/>
                </a:solidFill>
                <a:latin typeface="Segoe UI"/>
              </a:rPr>
              <a:t>Layer 1: Input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783080"/>
            <a:ext cx="17373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FFFFFF"/>
                </a:solidFill>
                <a:latin typeface="Segoe UI"/>
              </a:rPr>
              <a:t>Workload Metrics
+ Text Feedback</a:t>
            </a:r>
          </a:p>
        </p:txBody>
      </p:sp>
      <p:sp>
        <p:nvSpPr>
          <p:cNvPr id="8" name="Rectangle 7"/>
          <p:cNvSpPr/>
          <p:nvPr/>
        </p:nvSpPr>
        <p:spPr>
          <a:xfrm>
            <a:off x="2560320" y="1188720"/>
            <a:ext cx="1920240" cy="1645920"/>
          </a:xfrm>
          <a:prstGeom prst="rect">
            <a:avLst/>
          </a:prstGeom>
          <a:solidFill>
            <a:srgbClr val="1E29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2560320" y="1188720"/>
            <a:ext cx="1920240" cy="73152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651760" y="1371600"/>
            <a:ext cx="1737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34D399"/>
                </a:solidFill>
                <a:latin typeface="Segoe UI"/>
              </a:rPr>
              <a:t>Layer 2: Inference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651760" y="1783080"/>
            <a:ext cx="17373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FFFFFF"/>
                </a:solidFill>
                <a:latin typeface="Segoe UI"/>
              </a:rPr>
              <a:t>Random Forest
+ DistilBERT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663440" y="1188720"/>
            <a:ext cx="1920240" cy="1645920"/>
          </a:xfrm>
          <a:prstGeom prst="rect">
            <a:avLst/>
          </a:prstGeom>
          <a:solidFill>
            <a:srgbClr val="1E29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663440" y="1188720"/>
            <a:ext cx="1920240" cy="73152"/>
          </a:xfrm>
          <a:prstGeom prst="rect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754879" y="1371600"/>
            <a:ext cx="1737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BBF24"/>
                </a:solidFill>
                <a:latin typeface="Segoe UI"/>
              </a:rPr>
              <a:t>Layer 3: Fusion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754879" y="1783080"/>
            <a:ext cx="17373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FFFFFF"/>
                </a:solidFill>
                <a:latin typeface="Segoe UI"/>
              </a:rPr>
              <a:t>Risk Engine
(60 / 40 Split)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766560" y="1188720"/>
            <a:ext cx="1920240" cy="1645920"/>
          </a:xfrm>
          <a:prstGeom prst="rect">
            <a:avLst/>
          </a:prstGeom>
          <a:solidFill>
            <a:srgbClr val="1E29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766560" y="1188720"/>
            <a:ext cx="1920240" cy="73152"/>
          </a:xfrm>
          <a:prstGeom prst="rect">
            <a:avLst/>
          </a:prstGeom>
          <a:solidFill>
            <a:srgbClr val="F871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858000" y="1371600"/>
            <a:ext cx="1737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87171"/>
                </a:solidFill>
                <a:latin typeface="Segoe UI"/>
              </a:rPr>
              <a:t>Layer 4: Output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858000" y="1783080"/>
            <a:ext cx="17373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FFFFFF"/>
                </a:solidFill>
                <a:latin typeface="Segoe UI"/>
              </a:rPr>
              <a:t>Score + Level
+ SHAP Explanations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57200" y="3108960"/>
            <a:ext cx="8229600" cy="3291840"/>
          </a:xfrm>
          <a:prstGeom prst="rect">
            <a:avLst/>
          </a:prstGeom>
          <a:solidFill>
            <a:srgbClr val="1E29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457200" y="3108960"/>
            <a:ext cx="8229600" cy="73152"/>
          </a:xfrm>
          <a:prstGeom prst="rect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31520" y="3291840"/>
            <a:ext cx="7680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BBF24"/>
                </a:solidFill>
                <a:latin typeface="Segoe UI"/>
              </a:rPr>
              <a:t>The Mathematical Fusion Formula: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31520" y="3749039"/>
            <a:ext cx="7680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38BDF8"/>
                </a:solidFill>
                <a:latin typeface="Segoe UI"/>
              </a:rPr>
              <a:t>Final Risk Score = ( 0.60 × Workload_Probability  +  0.40 × Sentiment_Risk ) × 100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31520" y="4389120"/>
            <a:ext cx="768096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500"/>
              </a:spcAft>
            </a:pPr>
            <a:r>
              <a:rPr sz="1200">
                <a:solidFill>
                  <a:srgbClr val="FFFFFF"/>
                </a:solidFill>
                <a:latin typeface="Segoe UI"/>
              </a:rPr>
              <a:t>✦  Why 60% Workload? Physical numbers (daily hours, excessive overtime, absences) reflect objective burden.</a:t>
            </a:r>
          </a:p>
          <a:p>
            <a:pPr>
              <a:lnSpc>
                <a:spcPct val="115000"/>
              </a:lnSpc>
              <a:spcAft>
                <a:spcPts val="500"/>
              </a:spcAft>
            </a:pPr>
            <a:r>
              <a:rPr sz="1200">
                <a:solidFill>
                  <a:srgbClr val="FFFFFF"/>
                </a:solidFill>
                <a:latin typeface="Segoe UI"/>
              </a:rPr>
              <a:t>✦  Why 40% Sentiment? Text captures emotional fatigue and toxic stress that raw attendance hours cannot reveal.</a:t>
            </a:r>
          </a:p>
          <a:p>
            <a:pPr>
              <a:lnSpc>
                <a:spcPct val="115000"/>
              </a:lnSpc>
              <a:spcAft>
                <a:spcPts val="500"/>
              </a:spcAft>
            </a:pPr>
            <a:r>
              <a:rPr sz="1200">
                <a:solidFill>
                  <a:srgbClr val="FFFFFF"/>
                </a:solidFill>
                <a:latin typeface="Segoe UI"/>
              </a:rPr>
              <a:t>✦  Triage Categorization: Low Risk (0 - 33%) 🟢  |  Medium Risk (34 - 66%) 🟡  |  High Risk (67 - 100%) 🔴</a:t>
            </a:r>
          </a:p>
          <a:p>
            <a:pPr>
              <a:lnSpc>
                <a:spcPct val="115000"/>
              </a:lnSpc>
              <a:spcAft>
                <a:spcPts val="500"/>
              </a:spcAft>
            </a:pPr>
            <a:r>
              <a:rPr sz="1200">
                <a:solidFill>
                  <a:srgbClr val="FFFFFF"/>
                </a:solidFill>
                <a:latin typeface="Segoe UI"/>
              </a:rPr>
              <a:t>✦  Explainable AI (SHAP): TreeExplainer pinpoints the exact top 3 triggers so HR knows exactly what to fix.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F1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Segoe UI"/>
              </a:rPr>
              <a:t>4. Data Engineering &amp; Key EDA Insights 📈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97280"/>
            <a:ext cx="3931920" cy="5303520"/>
          </a:xfrm>
          <a:prstGeom prst="rect">
            <a:avLst/>
          </a:prstGeom>
          <a:solidFill>
            <a:srgbClr val="1E29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7200" y="1097280"/>
            <a:ext cx="3931920" cy="73152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280160"/>
            <a:ext cx="3566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34D399"/>
                </a:solidFill>
                <a:latin typeface="Segoe UI"/>
              </a:rPr>
              <a:t>Dataset Formulation (50 Employees)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691640"/>
            <a:ext cx="356616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500"/>
              </a:spcAft>
            </a:pPr>
            <a:r>
              <a:rPr sz="1200">
                <a:solidFill>
                  <a:srgbClr val="FFFFFF"/>
                </a:solidFill>
                <a:latin typeface="Segoe UI"/>
              </a:rPr>
              <a:t>✦  Realistic Ranges: Hours [6-13], Overtime [0-25h], Absences [0-8d], Late arrivals [0-15d], Tasks [5-40], Vacations [0-25d].</a:t>
            </a:r>
          </a:p>
          <a:p>
            <a:pPr>
              <a:lnSpc>
                <a:spcPct val="115000"/>
              </a:lnSpc>
              <a:spcAft>
                <a:spcPts val="500"/>
              </a:spcAft>
            </a:pPr>
            <a:r>
              <a:rPr sz="1200">
                <a:solidFill>
                  <a:srgbClr val="FFFFFF"/>
                </a:solidFill>
                <a:latin typeface="Segoe UI"/>
              </a:rPr>
              <a:t>✦  Humanized Data: Arabic and English employee names assigned for intuitive enterprise lookups.</a:t>
            </a:r>
          </a:p>
          <a:p>
            <a:pPr>
              <a:lnSpc>
                <a:spcPct val="115000"/>
              </a:lnSpc>
              <a:spcAft>
                <a:spcPts val="500"/>
              </a:spcAft>
            </a:pPr>
            <a:r>
              <a:rPr sz="1200">
                <a:solidFill>
                  <a:srgbClr val="FFFFFF"/>
                </a:solidFill>
                <a:latin typeface="Segoe UI"/>
              </a:rPr>
              <a:t>✦  Guaranteed Fairness: Synthetic data ensures zero demographic bias while maintaining rigorous correlation validity.</a:t>
            </a:r>
          </a:p>
          <a:p>
            <a:pPr>
              <a:lnSpc>
                <a:spcPct val="115000"/>
              </a:lnSpc>
              <a:spcAft>
                <a:spcPts val="500"/>
              </a:spcAft>
            </a:pPr>
            <a:r>
              <a:rPr sz="1200">
                <a:solidFill>
                  <a:srgbClr val="FFFFFF"/>
                </a:solidFill>
                <a:latin typeface="Segoe UI"/>
              </a:rPr>
              <a:t>✦  Noise Addition: 10% Gaussian jitter prevents artificial 100% classification accuracy.</a:t>
            </a:r>
          </a:p>
        </p:txBody>
      </p:sp>
      <p:sp>
        <p:nvSpPr>
          <p:cNvPr id="8" name="Rectangle 7"/>
          <p:cNvSpPr/>
          <p:nvPr/>
        </p:nvSpPr>
        <p:spPr>
          <a:xfrm>
            <a:off x="4754880" y="1097280"/>
            <a:ext cx="3931920" cy="5303520"/>
          </a:xfrm>
          <a:prstGeom prst="rect">
            <a:avLst/>
          </a:prstGeom>
          <a:solidFill>
            <a:srgbClr val="1E29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754880" y="1097280"/>
            <a:ext cx="3931920" cy="73152"/>
          </a:xfrm>
          <a:prstGeom prst="rect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937760" y="1280160"/>
            <a:ext cx="3566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BBF24"/>
                </a:solidFill>
                <a:latin typeface="Segoe UI"/>
              </a:rPr>
              <a:t>Key Statistical Revelations (eda.py)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937760" y="1691640"/>
            <a:ext cx="356616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500"/>
              </a:spcAft>
            </a:pPr>
            <a:r>
              <a:rPr sz="1200">
                <a:solidFill>
                  <a:srgbClr val="FFFFFF"/>
                </a:solidFill>
                <a:latin typeface="Segoe UI"/>
              </a:rPr>
              <a:t>✦  The Danger Zone: Weekly overtime &gt; 15 hours causes burnout rates to surge to over 80%.</a:t>
            </a:r>
          </a:p>
          <a:p>
            <a:pPr>
              <a:lnSpc>
                <a:spcPct val="115000"/>
              </a:lnSpc>
              <a:spcAft>
                <a:spcPts val="500"/>
              </a:spcAft>
            </a:pPr>
            <a:r>
              <a:rPr sz="1200">
                <a:solidFill>
                  <a:srgbClr val="FFFFFF"/>
                </a:solidFill>
                <a:latin typeface="Segoe UI"/>
              </a:rPr>
              <a:t>✦  Top Culprits: Daily hours (+0.68) and Overtime (+0.61) have the strongest positive correlation with burnout.</a:t>
            </a:r>
          </a:p>
          <a:p>
            <a:pPr>
              <a:lnSpc>
                <a:spcPct val="115000"/>
              </a:lnSpc>
              <a:spcAft>
                <a:spcPts val="500"/>
              </a:spcAft>
            </a:pPr>
            <a:r>
              <a:rPr sz="1200">
                <a:solidFill>
                  <a:srgbClr val="FFFFFF"/>
                </a:solidFill>
                <a:latin typeface="Segoe UI"/>
              </a:rPr>
              <a:t>✦  The Protective Shield: Employees utilizing &gt;15 vacation days showed a 65% drop in burnout scores.</a:t>
            </a:r>
          </a:p>
          <a:p>
            <a:pPr>
              <a:lnSpc>
                <a:spcPct val="115000"/>
              </a:lnSpc>
              <a:spcAft>
                <a:spcPts val="500"/>
              </a:spcAft>
            </a:pPr>
            <a:r>
              <a:rPr sz="1200">
                <a:solidFill>
                  <a:srgbClr val="FFFFFF"/>
                </a:solidFill>
                <a:latin typeface="Segoe UI"/>
              </a:rPr>
              <a:t>✦  Boxplot Spread: High-risk employees have a distinct median shift above 10.5 daily working hours.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F1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Segoe UI"/>
              </a:rPr>
              <a:t>5. Model Performance &amp; Feature Importance 🏆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97280"/>
            <a:ext cx="1920240" cy="1645920"/>
          </a:xfrm>
          <a:prstGeom prst="rect">
            <a:avLst/>
          </a:prstGeom>
          <a:solidFill>
            <a:srgbClr val="1E29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7200" y="1097280"/>
            <a:ext cx="1920240" cy="73152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234440"/>
            <a:ext cx="1737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94A3B8"/>
                </a:solidFill>
                <a:latin typeface="Segoe UI"/>
              </a:rPr>
              <a:t>Accuracy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508760"/>
            <a:ext cx="17373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>
                <a:solidFill>
                  <a:srgbClr val="34D399"/>
                </a:solidFill>
                <a:latin typeface="Segoe UI"/>
              </a:rPr>
              <a:t>85.0%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2057400"/>
            <a:ext cx="17373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FFFFFF"/>
                </a:solidFill>
                <a:latin typeface="Segoe UI"/>
              </a:rPr>
              <a:t>Balanced evaluation across test set</a:t>
            </a:r>
          </a:p>
        </p:txBody>
      </p:sp>
      <p:sp>
        <p:nvSpPr>
          <p:cNvPr id="9" name="Rectangle 8"/>
          <p:cNvSpPr/>
          <p:nvPr/>
        </p:nvSpPr>
        <p:spPr>
          <a:xfrm>
            <a:off x="2560320" y="1097280"/>
            <a:ext cx="1920240" cy="1645920"/>
          </a:xfrm>
          <a:prstGeom prst="rect">
            <a:avLst/>
          </a:prstGeom>
          <a:solidFill>
            <a:srgbClr val="1E29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2560320" y="1097280"/>
            <a:ext cx="1920240" cy="73152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651760" y="1234440"/>
            <a:ext cx="1737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94A3B8"/>
                </a:solidFill>
                <a:latin typeface="Segoe UI"/>
              </a:rPr>
              <a:t>F1-Score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651760" y="1508760"/>
            <a:ext cx="17373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>
                <a:solidFill>
                  <a:srgbClr val="38BDF8"/>
                </a:solidFill>
                <a:latin typeface="Segoe UI"/>
              </a:rPr>
              <a:t>0.83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651760" y="2057400"/>
            <a:ext cx="17373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FFFFFF"/>
                </a:solidFill>
                <a:latin typeface="Segoe UI"/>
              </a:rPr>
              <a:t>Harmonic balance of Precision &amp; Recall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663440" y="1097280"/>
            <a:ext cx="1920240" cy="1645920"/>
          </a:xfrm>
          <a:prstGeom prst="rect">
            <a:avLst/>
          </a:prstGeom>
          <a:solidFill>
            <a:srgbClr val="1E29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663440" y="1097280"/>
            <a:ext cx="1920240" cy="73152"/>
          </a:xfrm>
          <a:prstGeom prst="rect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754879" y="1234440"/>
            <a:ext cx="1737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94A3B8"/>
                </a:solidFill>
                <a:latin typeface="Segoe UI"/>
              </a:rPr>
              <a:t>Precision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754879" y="1508760"/>
            <a:ext cx="17373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>
                <a:solidFill>
                  <a:srgbClr val="FBBF24"/>
                </a:solidFill>
                <a:latin typeface="Segoe UI"/>
              </a:rPr>
              <a:t>0.84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754879" y="2057400"/>
            <a:ext cx="17373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FFFFFF"/>
                </a:solidFill>
                <a:latin typeface="Segoe UI"/>
              </a:rPr>
              <a:t>Low false alarm rate on burnout flags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766559" y="1097280"/>
            <a:ext cx="1920240" cy="1645920"/>
          </a:xfrm>
          <a:prstGeom prst="rect">
            <a:avLst/>
          </a:prstGeom>
          <a:solidFill>
            <a:srgbClr val="1E29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766559" y="1097280"/>
            <a:ext cx="1920240" cy="73152"/>
          </a:xfrm>
          <a:prstGeom prst="rect">
            <a:avLst/>
          </a:prstGeom>
          <a:solidFill>
            <a:srgbClr val="F871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857999" y="1234440"/>
            <a:ext cx="1737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94A3B8"/>
                </a:solidFill>
                <a:latin typeface="Segoe UI"/>
              </a:rPr>
              <a:t>Recall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857999" y="1508760"/>
            <a:ext cx="17373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>
                <a:solidFill>
                  <a:srgbClr val="F87171"/>
                </a:solidFill>
                <a:latin typeface="Segoe UI"/>
              </a:rPr>
              <a:t>0.82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857999" y="2057400"/>
            <a:ext cx="17373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FFFFFF"/>
                </a:solidFill>
                <a:latin typeface="Segoe UI"/>
              </a:rPr>
              <a:t>Captures over 82% of true burnout cases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57200" y="3017520"/>
            <a:ext cx="8229600" cy="3383280"/>
          </a:xfrm>
          <a:prstGeom prst="rect">
            <a:avLst/>
          </a:prstGeom>
          <a:solidFill>
            <a:srgbClr val="1E29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457200" y="3017520"/>
            <a:ext cx="8229600" cy="73152"/>
          </a:xfrm>
          <a:prstGeom prst="rect">
            <a:avLst/>
          </a:prstGeom>
          <a:solidFill>
            <a:srgbClr val="C084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31520" y="3200400"/>
            <a:ext cx="7680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Segoe UI"/>
              </a:rPr>
              <a:t>Why Random Forest Won? (Feature Importance Analysis)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31520" y="3657600"/>
            <a:ext cx="768096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500"/>
              </a:spcAft>
            </a:pPr>
            <a:r>
              <a:rPr sz="1200">
                <a:solidFill>
                  <a:srgbClr val="FFFFFF"/>
                </a:solidFill>
                <a:latin typeface="Segoe UI"/>
              </a:rPr>
              <a:t>✦  Superiority over Logistic Regression: Outperformed linear baseline (+4% F1) by handling complex interactions between overtime and absences.</a:t>
            </a:r>
          </a:p>
          <a:p>
            <a:pPr>
              <a:lnSpc>
                <a:spcPct val="115000"/>
              </a:lnSpc>
              <a:spcAft>
                <a:spcPts val="500"/>
              </a:spcAft>
            </a:pPr>
            <a:r>
              <a:rPr sz="1200">
                <a:solidFill>
                  <a:srgbClr val="FFFFFF"/>
                </a:solidFill>
                <a:latin typeface="Segoe UI"/>
              </a:rPr>
              <a:t>✦  Exact Feature Importance Ranking:</a:t>
            </a:r>
          </a:p>
          <a:p>
            <a:pPr>
              <a:lnSpc>
                <a:spcPct val="115000"/>
              </a:lnSpc>
              <a:spcAft>
                <a:spcPts val="500"/>
              </a:spcAft>
            </a:pPr>
            <a:r>
              <a:rPr sz="1200">
                <a:solidFill>
                  <a:srgbClr val="FFFFFF"/>
                </a:solidFill>
                <a:latin typeface="Segoe UI"/>
              </a:rPr>
              <a:t>✦    1) Daily Hours Worked (35.9%): Primary driver of sustained physical fatigue.</a:t>
            </a:r>
          </a:p>
          <a:p>
            <a:pPr>
              <a:lnSpc>
                <a:spcPct val="115000"/>
              </a:lnSpc>
              <a:spcAft>
                <a:spcPts val="500"/>
              </a:spcAft>
            </a:pPr>
            <a:r>
              <a:rPr sz="1200">
                <a:solidFill>
                  <a:srgbClr val="FFFFFF"/>
                </a:solidFill>
                <a:latin typeface="Segoe UI"/>
              </a:rPr>
              <a:t>✦    2) Weekly Overtime (22.5%): Depletion of recovery time outside work hours.</a:t>
            </a:r>
          </a:p>
          <a:p>
            <a:pPr>
              <a:lnSpc>
                <a:spcPct val="115000"/>
              </a:lnSpc>
              <a:spcAft>
                <a:spcPts val="500"/>
              </a:spcAft>
            </a:pPr>
            <a:r>
              <a:rPr sz="1200">
                <a:solidFill>
                  <a:srgbClr val="FFFFFF"/>
                </a:solidFill>
                <a:latin typeface="Segoe UI"/>
              </a:rPr>
              <a:t>✦    3) Active Task Load (13.0%): Mental context-switching penalty.</a:t>
            </a:r>
          </a:p>
          <a:p>
            <a:pPr>
              <a:lnSpc>
                <a:spcPct val="115000"/>
              </a:lnSpc>
              <a:spcAft>
                <a:spcPts val="500"/>
              </a:spcAft>
            </a:pPr>
            <a:r>
              <a:rPr sz="1200">
                <a:solidFill>
                  <a:srgbClr val="FFFFFF"/>
                </a:solidFill>
                <a:latin typeface="Segoe UI"/>
              </a:rPr>
              <a:t>✦    4) Absenteeism &amp; Delays (19.4%): Early behavioral symptoms of disengagement.</a:t>
            </a:r>
          </a:p>
          <a:p>
            <a:pPr>
              <a:lnSpc>
                <a:spcPct val="115000"/>
              </a:lnSpc>
              <a:spcAft>
                <a:spcPts val="500"/>
              </a:spcAft>
            </a:pPr>
            <a:r>
              <a:rPr sz="1200">
                <a:solidFill>
                  <a:srgbClr val="FFFFFF"/>
                </a:solidFill>
                <a:latin typeface="Segoe UI"/>
              </a:rPr>
              <a:t>✦    5) Vacation Days (9.1%): Protective buffer reducing overall risk.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F1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C084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Segoe UI"/>
              </a:rPr>
              <a:t>6. Enterprise Production Capabilities 🏢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188720"/>
            <a:ext cx="8229600" cy="914400"/>
          </a:xfrm>
          <a:prstGeom prst="rect">
            <a:avLst/>
          </a:prstGeom>
          <a:solidFill>
            <a:srgbClr val="1E29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7200" y="1188720"/>
            <a:ext cx="8229600" cy="73152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28016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38BDF8"/>
                </a:solidFill>
                <a:latin typeface="Segoe UI"/>
              </a:rPr>
              <a:t>🐘 PostgreSQL &amp; SQLAlchemy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572768"/>
            <a:ext cx="7680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  <a:latin typeface="Segoe UI"/>
              </a:rPr>
              <a:t>Enterprise relational database schema with full migration readiness for AWS / Render cloud deployments.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2240280"/>
            <a:ext cx="8229600" cy="914400"/>
          </a:xfrm>
          <a:prstGeom prst="rect">
            <a:avLst/>
          </a:prstGeom>
          <a:solidFill>
            <a:srgbClr val="1E29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57200" y="2240280"/>
            <a:ext cx="8229600" cy="73152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233172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34D399"/>
                </a:solidFill>
                <a:latin typeface="Segoe UI"/>
              </a:rPr>
              <a:t>🔐 Role-Based Access &amp; bcrypt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2624328"/>
            <a:ext cx="7680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  <a:latin typeface="Segoe UI"/>
              </a:rPr>
              <a:t>Secure password hashing via native bcrypt with strict authorization boundaries separating HR admins from employees.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" y="3291839"/>
            <a:ext cx="8229600" cy="914400"/>
          </a:xfrm>
          <a:prstGeom prst="rect">
            <a:avLst/>
          </a:prstGeom>
          <a:solidFill>
            <a:srgbClr val="1E29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57200" y="3291839"/>
            <a:ext cx="8229600" cy="73152"/>
          </a:xfrm>
          <a:prstGeom prst="rect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31520" y="3383279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BBF24"/>
                </a:solidFill>
                <a:latin typeface="Segoe UI"/>
              </a:rPr>
              <a:t>🔄 Dynamic Re-assessment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" y="3675887"/>
            <a:ext cx="7680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  <a:latin typeface="Segoe UI"/>
              </a:rPr>
              <a:t>Employees can update their status as workload shifts; the model re-evaluates risk in real-time.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57200" y="4343400"/>
            <a:ext cx="8229600" cy="914400"/>
          </a:xfrm>
          <a:prstGeom prst="rect">
            <a:avLst/>
          </a:prstGeom>
          <a:solidFill>
            <a:srgbClr val="1E29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57200" y="4343400"/>
            <a:ext cx="8229600" cy="73152"/>
          </a:xfrm>
          <a:prstGeom prst="rect">
            <a:avLst/>
          </a:prstGeom>
          <a:solidFill>
            <a:srgbClr val="C084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31520" y="443484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C084FC"/>
                </a:solidFill>
                <a:latin typeface="Segoe UI"/>
              </a:rPr>
              <a:t>📜 Historical Audit Timeline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1520" y="4727448"/>
            <a:ext cx="7680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  <a:latin typeface="Segoe UI"/>
              </a:rPr>
              <a:t>Tracks health progression over time to measure whether organizational interventions successfully alleviated risk.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57200" y="5394959"/>
            <a:ext cx="8229600" cy="914400"/>
          </a:xfrm>
          <a:prstGeom prst="rect">
            <a:avLst/>
          </a:prstGeom>
          <a:solidFill>
            <a:srgbClr val="1E29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457200" y="5394959"/>
            <a:ext cx="8229600" cy="73152"/>
          </a:xfrm>
          <a:prstGeom prst="rect">
            <a:avLst/>
          </a:prstGeom>
          <a:solidFill>
            <a:srgbClr val="F871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31520" y="5486399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87171"/>
                </a:solidFill>
                <a:latin typeface="Segoe UI"/>
              </a:rPr>
              <a:t>🌍 Native Bilingual Engine (AR/EN)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31520" y="5779007"/>
            <a:ext cx="7680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  <a:latin typeface="Segoe UI"/>
              </a:rPr>
              <a:t>Instant client-side translation with full RTL layout transformation and Arabic Cairo font styling.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F1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Segoe UI"/>
              </a:rPr>
              <a:t>7. Live Demonstration Flow 🎬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188720"/>
            <a:ext cx="4023360" cy="2286000"/>
          </a:xfrm>
          <a:prstGeom prst="rect">
            <a:avLst/>
          </a:prstGeom>
          <a:solidFill>
            <a:srgbClr val="1E29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7200" y="1188720"/>
            <a:ext cx="4023360" cy="73152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37160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38BDF8"/>
                </a:solidFill>
                <a:latin typeface="Segoe UI"/>
              </a:rPr>
              <a:t>1. HR Admin Portal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828800"/>
            <a:ext cx="36576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  <a:latin typeface="Segoe UI"/>
              </a:rPr>
              <a:t>Login: admin / [Admin Portal]
Live dashboard showing breakdown across the 50 employees with Chart.js visualization.</a:t>
            </a:r>
          </a:p>
        </p:txBody>
      </p:sp>
      <p:sp>
        <p:nvSpPr>
          <p:cNvPr id="8" name="Rectangle 7"/>
          <p:cNvSpPr/>
          <p:nvPr/>
        </p:nvSpPr>
        <p:spPr>
          <a:xfrm>
            <a:off x="4663440" y="1188720"/>
            <a:ext cx="4023360" cy="2286000"/>
          </a:xfrm>
          <a:prstGeom prst="rect">
            <a:avLst/>
          </a:prstGeom>
          <a:solidFill>
            <a:srgbClr val="1E29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663440" y="1188720"/>
            <a:ext cx="4023360" cy="73152"/>
          </a:xfrm>
          <a:prstGeom prst="rect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846320" y="137160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BBF24"/>
                </a:solidFill>
                <a:latin typeface="Segoe UI"/>
              </a:rPr>
              <a:t>2. Employee Sign-Up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846320" y="1828800"/>
            <a:ext cx="36576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  <a:latin typeface="Segoe UI"/>
              </a:rPr>
              <a:t>Register a new employee.
Input 11h daily, 18h overtime, and feedback: 'I feel exhausted and overwhelmed'.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" y="3749039"/>
            <a:ext cx="4023360" cy="2286000"/>
          </a:xfrm>
          <a:prstGeom prst="rect">
            <a:avLst/>
          </a:prstGeom>
          <a:solidFill>
            <a:srgbClr val="1E29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57200" y="3749039"/>
            <a:ext cx="4023360" cy="73152"/>
          </a:xfrm>
          <a:prstGeom prst="rect">
            <a:avLst/>
          </a:prstGeom>
          <a:solidFill>
            <a:srgbClr val="F871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" y="393192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87171"/>
                </a:solidFill>
                <a:latin typeface="Segoe UI"/>
              </a:rPr>
              <a:t>3. Instant AI Triage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4389120"/>
            <a:ext cx="36576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  <a:latin typeface="Segoe UI"/>
              </a:rPr>
              <a:t>Dual inference runs &lt;1.5s.
Score: 82% (High Risk 🔴).
SHAP displays Overtime and Sentiment as top factors.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663440" y="3749039"/>
            <a:ext cx="4023360" cy="2286000"/>
          </a:xfrm>
          <a:prstGeom prst="rect">
            <a:avLst/>
          </a:prstGeom>
          <a:solidFill>
            <a:srgbClr val="1E29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663440" y="3749039"/>
            <a:ext cx="4023360" cy="73152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846320" y="393192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34D399"/>
                </a:solidFill>
                <a:latin typeface="Segoe UI"/>
              </a:rPr>
              <a:t>4. Re-assessment Simulation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846320" y="4389120"/>
            <a:ext cx="36576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  <a:latin typeface="Segoe UI"/>
              </a:rPr>
              <a:t>Employee updates status: overtime reduced, vacations taken.
Score drops to 24% (Low Risk 🟢) and logs to History.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F1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Segoe UI"/>
              </a:rPr>
              <a:t>8. Conclusion &amp; Future Roadmap 🚀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97280"/>
            <a:ext cx="3931920" cy="4023360"/>
          </a:xfrm>
          <a:prstGeom prst="rect">
            <a:avLst/>
          </a:prstGeom>
          <a:solidFill>
            <a:srgbClr val="1E29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7200" y="1097280"/>
            <a:ext cx="3931920" cy="73152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280160"/>
            <a:ext cx="3566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34D399"/>
                </a:solidFill>
                <a:latin typeface="Segoe UI"/>
              </a:rPr>
              <a:t>What We Delivered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737360"/>
            <a:ext cx="356616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500"/>
              </a:spcAft>
            </a:pPr>
            <a:r>
              <a:rPr sz="1200">
                <a:solidFill>
                  <a:srgbClr val="FFFFFF"/>
                </a:solidFill>
                <a:latin typeface="Segoe UI"/>
              </a:rPr>
              <a:t>✦  End-to-end multi-modal Decision Support System.</a:t>
            </a:r>
          </a:p>
          <a:p>
            <a:pPr>
              <a:lnSpc>
                <a:spcPct val="115000"/>
              </a:lnSpc>
              <a:spcAft>
                <a:spcPts val="500"/>
              </a:spcAft>
            </a:pPr>
            <a:r>
              <a:rPr sz="1200">
                <a:solidFill>
                  <a:srgbClr val="FFFFFF"/>
                </a:solidFill>
                <a:latin typeface="Segoe UI"/>
              </a:rPr>
              <a:t>✦  Combined statistical Machine Learning with Deep NLP.</a:t>
            </a:r>
          </a:p>
          <a:p>
            <a:pPr>
              <a:lnSpc>
                <a:spcPct val="115000"/>
              </a:lnSpc>
              <a:spcAft>
                <a:spcPts val="500"/>
              </a:spcAft>
            </a:pPr>
            <a:r>
              <a:rPr sz="1200">
                <a:solidFill>
                  <a:srgbClr val="FFFFFF"/>
                </a:solidFill>
                <a:latin typeface="Segoe UI"/>
              </a:rPr>
              <a:t>✦  Actionable transparency via SHAP Explainable AI.</a:t>
            </a:r>
          </a:p>
          <a:p>
            <a:pPr>
              <a:lnSpc>
                <a:spcPct val="115000"/>
              </a:lnSpc>
              <a:spcAft>
                <a:spcPts val="500"/>
              </a:spcAft>
            </a:pPr>
            <a:r>
              <a:rPr sz="1200">
                <a:solidFill>
                  <a:srgbClr val="FFFFFF"/>
                </a:solidFill>
                <a:latin typeface="Segoe UI"/>
              </a:rPr>
              <a:t>✦  Full enterprise tech stack (FastAPI, PostgreSQL, bcrypt).</a:t>
            </a:r>
          </a:p>
          <a:p>
            <a:pPr>
              <a:lnSpc>
                <a:spcPct val="115000"/>
              </a:lnSpc>
              <a:spcAft>
                <a:spcPts val="500"/>
              </a:spcAft>
            </a:pPr>
            <a:r>
              <a:rPr sz="1200">
                <a:solidFill>
                  <a:srgbClr val="FFFFFF"/>
                </a:solidFill>
                <a:latin typeface="Segoe UI"/>
              </a:rPr>
              <a:t>✦  100% operational demo ready for immediate deployment.</a:t>
            </a:r>
          </a:p>
        </p:txBody>
      </p:sp>
      <p:sp>
        <p:nvSpPr>
          <p:cNvPr id="8" name="Rectangle 7"/>
          <p:cNvSpPr/>
          <p:nvPr/>
        </p:nvSpPr>
        <p:spPr>
          <a:xfrm>
            <a:off x="4754880" y="1097280"/>
            <a:ext cx="3931920" cy="4023360"/>
          </a:xfrm>
          <a:prstGeom prst="rect">
            <a:avLst/>
          </a:prstGeom>
          <a:solidFill>
            <a:srgbClr val="1E29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754880" y="1097280"/>
            <a:ext cx="3931920" cy="73152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937760" y="1280160"/>
            <a:ext cx="3566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38BDF8"/>
                </a:solidFill>
                <a:latin typeface="Segoe UI"/>
              </a:rPr>
              <a:t>Future Horizons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937760" y="1737360"/>
            <a:ext cx="356616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500"/>
              </a:spcAft>
            </a:pPr>
            <a:r>
              <a:rPr sz="1200">
                <a:solidFill>
                  <a:srgbClr val="FFFFFF"/>
                </a:solidFill>
                <a:latin typeface="Segoe UI"/>
              </a:rPr>
              <a:t>✦  AraBERT Integration: Native Arabic NLP sentiment support.</a:t>
            </a:r>
          </a:p>
          <a:p>
            <a:pPr>
              <a:lnSpc>
                <a:spcPct val="115000"/>
              </a:lnSpc>
              <a:spcAft>
                <a:spcPts val="500"/>
              </a:spcAft>
            </a:pPr>
            <a:r>
              <a:rPr sz="1200">
                <a:solidFill>
                  <a:srgbClr val="FFFFFF"/>
                </a:solidFill>
                <a:latin typeface="Segoe UI"/>
              </a:rPr>
              <a:t>✦  Slack &amp; Microsoft Teams Bot: Real-time wellbeing pulse surveys.</a:t>
            </a:r>
          </a:p>
          <a:p>
            <a:pPr>
              <a:lnSpc>
                <a:spcPct val="115000"/>
              </a:lnSpc>
              <a:spcAft>
                <a:spcPts val="500"/>
              </a:spcAft>
            </a:pPr>
            <a:r>
              <a:rPr sz="1200">
                <a:solidFill>
                  <a:srgbClr val="FFFFFF"/>
                </a:solidFill>
                <a:latin typeface="Segoe UI"/>
              </a:rPr>
              <a:t>✦  Temporal Time-Series Forecasting: 3-month predictive burnout trajectories using LSTM/Transformers.</a:t>
            </a:r>
          </a:p>
          <a:p>
            <a:pPr>
              <a:lnSpc>
                <a:spcPct val="115000"/>
              </a:lnSpc>
              <a:spcAft>
                <a:spcPts val="500"/>
              </a:spcAft>
            </a:pPr>
            <a:r>
              <a:rPr sz="1200">
                <a:solidFill>
                  <a:srgbClr val="FFFFFF"/>
                </a:solidFill>
                <a:latin typeface="Segoe UI"/>
              </a:rPr>
              <a:t>✦  Prescriptive AI: Automated workload re-balancing recommendations.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" y="5303520"/>
            <a:ext cx="8229600" cy="1188720"/>
          </a:xfrm>
          <a:prstGeom prst="rect">
            <a:avLst/>
          </a:prstGeom>
          <a:solidFill>
            <a:srgbClr val="1E29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57200" y="5303520"/>
            <a:ext cx="8229600" cy="73152"/>
          </a:xfrm>
          <a:prstGeom prst="rect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31520" y="5486400"/>
            <a:ext cx="7680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BBF24"/>
                </a:solidFill>
                <a:latin typeface="Segoe UI"/>
              </a:rPr>
              <a:t>🎉 Thank You! Any questions? (Our team's burnout score is currently 0% now that we finished!) ☕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" y="5943600"/>
            <a:ext cx="7680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94A3B8"/>
                </a:solidFill>
                <a:latin typeface="Segoe UI"/>
              </a:rPr>
              <a:t>WorkPulse — AI Workplace Burnout Risk Prediction System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