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10B981"/>
                </a:solidFill>
                <a:latin typeface="Arial"/>
              </a:defRPr>
            </a:pPr>
            <a:r>
              <a:t>منصة WorkPulse للذكاء الاصطناعي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هندسة وتنظيف بيانات كاجل (Kaggle Data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من 22,750 سجلاً خام في كاجل إلى 1,000 موظف جاهزين للتدريب والإنتاج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920240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داتا كاجل الخام</a:t>
            </a:r>
            <a:br/>
            <a:r>
              <a:t>22,750 سجل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840480"/>
            <a:ext cx="19202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تنظيف البيانات</a:t>
            </a:r>
            <a:br/>
            <a:r>
              <a:t>وحذف المفقود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840480"/>
            <a:ext cx="1920240" cy="109728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مواءمة المتغيرات</a:t>
            </a:r>
            <a:br/>
            <a:r>
              <a:t>وهندسة الميزات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60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840480"/>
            <a:ext cx="19202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977639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1,000 موظف</a:t>
            </a:r>
            <a:br/>
            <a:r>
              <a:t>بيانات نظيفة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المصدر المعتمد: مسابقة HackerEarth / Kaggle — Are Your Employees Burning Out?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3882F6"/>
                </a:solidFill>
                <a:latin typeface="Arial"/>
              </a:defRPr>
            </a:pPr>
            <a:r>
              <a:t>1. مصدر البيانات: مسابقة HackerEarth على كاجل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رابط الداتا: kaggle.com/datasets/blurredmachine/are-your-employees-burning-out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3444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486400" cy="7315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3882F6"/>
                </a:solidFill>
                <a:latin typeface="Arial"/>
              </a:defRPr>
            </a:pPr>
            <a:r>
              <a:t>مواصفات الداتا الخام في كاجل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المسابقة: تحدي معتمد من HackerEarth لاستشراف الاحتراق الوظيفي.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إجمالي السجلات: 22,750 موظفاً من شركات حقيقية.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المتغير التابع: Burn Rate كنسبة مستمرة من 0.0 إلى 1.0.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9 أعمدة أساسية: كود الموظف، تاريخ التعيين، الجنس، نوع الشركة، بيئة العمل عن بعد، المنصب، الموارد، الإجهاد الذهني، والاحتراق.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داتا معتمدة استخدمها أكثر من 500 باحث في علوم البيانات.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4864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0B981"/>
                </a:solidFill>
                <a:latin typeface="Arial"/>
              </a:defRPr>
            </a:pPr>
            <a:r>
              <a:t>لماذا اخترنا هذه الداتا بالتحديد؟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بيانات حقيقية وموثقة تعكس بيئات العمل الفعلية.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تحتوي على مقياس الإجهاد الذهني (Mental Fatigue) المعتمد نفسياً.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حجم العينة الكبير يمنح ثقة إحصائية ممتازة لاختيار النماذج.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احتواؤها على قيم مفقودة يبرز مهارة تنظيف البيانات كمهندسين.</a:t>
            </a:r>
          </a:p>
          <a:p>
            <a:pPr algn="r">
              <a:spcAft>
                <a:spcPts val="1200"/>
              </a:spcAft>
              <a:defRPr sz="1350">
                <a:solidFill>
                  <a:srgbClr val="FFFFFF"/>
                </a:solidFill>
                <a:latin typeface="Arial"/>
              </a:defRPr>
            </a:pPr>
            <a:r>
              <a:t>• مهدت لبناء المحرك الهجين بدمج نصوص الـ NLP التي تفتقدها كاجل.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EF4444"/>
                </a:solidFill>
                <a:latin typeface="Arial"/>
              </a:defRPr>
            </a:pPr>
            <a:r>
              <a:t>2. عيوب الداتا الخام في كاجل (لماذا تحتاج Data Cleaning؟)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أهم المشاكل التي تمنع إدخال الداتا مباشرة في موديل الذكاء الاصطناعي: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6517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EF4444"/>
                </a:solidFill>
                <a:latin typeface="Arial"/>
              </a:defRPr>
            </a:pPr>
            <a:r>
              <a:t>القيم المفقودة (4,622 قيمة)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1,124 صف بدون Target.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2,117 قيمة مفقودة في الإجهاد.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1,381 قيمة مفقودة في الموارد.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لا يمكن التدريب بدون Ground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59E0B"/>
                </a:solidFill>
                <a:latin typeface="Arial"/>
              </a:defRPr>
            </a:pPr>
            <a:r>
              <a:t>الصفوف المكررة (5,948 صفاً)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تكرار نفس أرقام الميزات بالضبط.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يسبب انحيازاً غير عادل للنموذج.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تم حذفها للحفاظ على الأنماط الفريدة.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A78BFA"/>
                </a:solidFill>
                <a:latin typeface="Arial"/>
              </a:defRPr>
            </a:pPr>
            <a:r>
              <a:t>اختلاف نوع المخرجات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في كاجل: Burn Rate هو رقم مستمر.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نظامنا يحتاج تصنيفاً ثنائياً (0 أو 1).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العتبة: &gt;= 0.50 يُعتبر احتراق وظيفي.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280160"/>
            <a:ext cx="26517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417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Arial"/>
              </a:defRPr>
            </a:pPr>
            <a:r>
              <a:t>غياب نصوص الفيدباك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92024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كاجل تحتوي على جداول أرقام فقط.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لا توجد أي شكاوى أو مشاعر مكتوبة.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دمجنا نصوص الـ NLP ليكتمل النظام الهجين.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10B981"/>
                </a:solidFill>
                <a:latin typeface="Arial"/>
              </a:defRPr>
            </a:pPr>
            <a:r>
              <a:t>3. مسار تنظيف البيانات بالأرقام (Data Cleaning Pipeline)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1109167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المؤشر الإحصائي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قبل التنظيف (Raw)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بعد التنظيف (Clean)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الإجراء المطبق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إجمالي السجلات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22,750 صفاً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12,642 صفاً صالحاً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حذف 10,108 صفاً غير صالح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القيم المفقودة (NaN)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4,622 خلية فارغة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(صفر تماماً)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حذف الصفوف الناقصة جذرياً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الصفوف المكررة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5,948 صفاً مكرراً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(صفر)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إزالة كاملة لمنع انحياز النموذج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حجم العينة النهائية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1,000 موظف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سحب عينة طبقية متوازنة (Stratified)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نسبة الاحتراق الوظيفي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~43% (مستمر)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44.1% (ثنائي)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مطابقة لإحصائيات منظمة العمل الدولية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عدد الأعمدة ونوعها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 أعمدة أرقام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 أعمدة (أرقام + نصوص)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إضافة طبقة نصوص الـ NLP والأسماء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1109167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النتيجة النهائية لمرحلة هندسة وتنظيف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1. ملف data/employees.csv جاهز وموثق بنسبة 100% وخالٍ من أي أخطاء أو قيم شاذة.</a:t>
            </a:r>
          </a:p>
          <a:p>
            <a:pPr algn="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2. العينة تضم 1,000 موظف بأسماء عربية فريدة تعبر عن واقع المؤسسات المحلية.</a:t>
            </a:r>
          </a:p>
          <a:p>
            <a:pPr algn="r">
              <a:spcAft>
                <a:spcPts val="8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3. استقرار تام للنتائج بفضل تثبيت معامل العشوائية (random_state = 42).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6B6D4"/>
                </a:solidFill>
                <a:latin typeface="Arial"/>
              </a:defRPr>
            </a:pPr>
            <a:r>
              <a:t>4. جدول مواءمة المتغيرات (Kaggle  ◀  WorkPulse Schema)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تحويل أعمدة كاجل إلى مؤشرات الموارد البشرية مع إضافة التشويش الطبيعي (Noise):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4552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47471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عمود نظام WorkPulse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المصدر من كاجل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معادلة الاشتقاق والتحويل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المدى الناتج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employee_id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كود مشفر (Hash)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توليد كود منظم: EMP0001 - EMP1000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EMP0001 - EMP1000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 (غير موجود)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أسماء عربية ثلاثية مطابقة للجنس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1,000 اسم فريد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avg_daily_hours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Resource Allocation (1-10)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6.0 + (RA - 1) / 9 * 7.0 + Noise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6.0 - 13.0 ساعة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overtime_hours_week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Resource + Fatigue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(RA/10 * 15) + (Fatigue/10 * 10)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0.0 - 25.0 ساعة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absence_days_month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Mental Fatigue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Mental Fatigue / 10 * 8 + Noise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0 - 8 أيام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late_arrivals_month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 * 15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0 - 15 مرة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tasks_assigned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Designation + 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 + (Desig/5 * 20) + (RA/10 * 15)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5 - 40 مهمة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vacation_days_last_year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 (عكسي)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 * (1 - Burn Rate) + Noise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0 - 25 يوماً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feedback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 (غير موجود)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نصوص مشاعر موزعة حسب معدل الإجهاد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45 جملة معبرة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burnout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Burn Rate (0.0-1.0)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 إذا كان Burn Rate &gt;= 0.50 وإلا 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أو 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12080"/>
            <a:ext cx="11274552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12745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Arial"/>
              </a:defRPr>
            </a:pPr>
            <a:r>
              <a:t>ملاحظة علمية هامة للمناقشة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أضفنا Gaussian Noise (تشويش طبيعي) لمنع العلاقات الخطية التامة ولإجبار الموديل على تعلم أنماط واقعية.</a:t>
            </a:r>
          </a:p>
          <a:p>
            <a:pPr algn="r">
              <a:spcAft>
                <a:spcPts val="4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رصيد الإجازات أخذ علاقة عكسية (عامل حماية): كلما زاد الإرهاق قل استهلاك الإجازات.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A78BFA"/>
                </a:solidFill>
                <a:latin typeface="Arial"/>
              </a:defRPr>
            </a:pPr>
            <a:r>
              <a:t>5. طبقة نصوص المشاعر (NLP Sentiment Fusion)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صياغة 45 جملة شكوى وتقييم واقعية وربطها إحصائياً بمعدل إجهاد الموظف الحقيقي: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280160"/>
            <a:ext cx="35661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0B981"/>
                </a:solidFill>
                <a:latin typeface="Arial"/>
              </a:defRPr>
            </a:pPr>
            <a:r>
              <a:t>المشاعر الإيجابية (Positive)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352 موظفاً (35.2%)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"I love my job and feel very motivated."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"I feel valued and recognized for my work."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"The company culture is supportive."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الموظف السليم (Burn Rate &lt; 0.35)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احتمال 70% فيدباك إيجابي و 30% محايد.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59E0B"/>
                </a:solidFill>
                <a:latin typeface="Arial"/>
              </a:defRPr>
            </a:pPr>
            <a:r>
              <a:t>المشاعر المحايدة (Neutral)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287 موظفاً (28.7%)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"Work is fine, nothing special to report."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"Some days are tough but it is manageable."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"Work-life balance is acceptable."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الموظف المتوسط (Burn Rate 0.35 - 0.60)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توزيع متوازن بين الفئات الثلاث.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280160"/>
            <a:ext cx="356616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EF4444"/>
                </a:solidFill>
                <a:latin typeface="Arial"/>
              </a:defRPr>
            </a:pPr>
            <a:r>
              <a:t>المشاعر السلبية (Negative)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Arial"/>
              </a:defRPr>
            </a:pPr>
            <a:r>
              <a:t>361 موظفاً (36.1%)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2402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"I feel completely exhausted and overwhelmed."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"The workload is unbearable and too stressful."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"My mental health is deteriorating."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الموظف المرهق (Burn Rate &gt; 0.60)</a:t>
            </a:r>
          </a:p>
          <a:p>
            <a:pPr algn="r"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• احتمال 75% فيدباك سلبي و 25% محايد.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10B981"/>
                </a:solidFill>
                <a:latin typeface="Arial"/>
              </a:defRPr>
            </a:pPr>
            <a:r>
              <a:t>6. الإحصائيات الدقيقة لـ 1,000 موظف ونتائج التدريب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المتغير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المتوسط (Mean)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الانحراف (Std)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الحد الأدنى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الوسيط (50%)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الحد الأقصى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ساعات العمل اليومية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8.83 ساعة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1.69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8.78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الساعات الإضافية (أسبوعياً)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12.85 ساعة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5.34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أيام الغياب شهرياً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4.61 يوم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2.04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مرات التأخير شهرياً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6.91 مرة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3.68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المهام المسندة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20.77 مهمة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8.18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20.00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الإجازات المستهلكة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13.30 يوم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5.85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13.00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3840480"/>
            <a:ext cx="54864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3840480"/>
            <a:ext cx="5486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  <a:latin typeface="Arial"/>
              </a:defRPr>
            </a:pPr>
            <a:r>
              <a:t>توزيع فئات الهدف (Burnout)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89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سليم (Class 0): 559 موظف بنسبة 55.9%.</a:t>
            </a:r>
          </a:p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في خطر احتراق (Class 1): 441 موظف بنسبة 44.1%.</a:t>
            </a:r>
          </a:p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توازن الفئات (1.27 : 1) يلغي الحاجة للتوليد الاصطناعي (SMOTE).</a:t>
            </a:r>
          </a:p>
          <a:p>
            <a:pPr algn="r">
              <a:spcAft>
                <a:spcPts val="7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مطابقة تامة لتقارير مؤسسة Gallup ومنظمة العمل الدولية.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548640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7315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3882F6"/>
                </a:solidFill>
                <a:latin typeface="Arial"/>
              </a:defRPr>
            </a:pPr>
            <a:r>
              <a:t>نتائج تدريب الموديل (Random Forest)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دقة النموذج الإجمالية (Accuracy): 95.50%.</a:t>
            </a:r>
          </a:p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مقياس الجودة F1-Score: حقق 0.95 (Precision: 93.4% | Recall: 96.6%).</a:t>
            </a:r>
          </a:p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• أهم العوامل المؤثرة (SHAP):</a:t>
            </a:r>
          </a:p>
          <a:p>
            <a:pPr algn="r">
              <a:spcAft>
                <a:spcPts val="600"/>
              </a:spcAft>
              <a:defRPr sz="1250">
                <a:solidFill>
                  <a:srgbClr val="FFFFFF"/>
                </a:solidFill>
                <a:latin typeface="Arial"/>
              </a:defRPr>
            </a:pPr>
            <a:r>
              <a:t>    1) الأوفرتايم (30.1%)  2) الإجازات (22.9%)  3) ساعات العمل (21.9%).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F59E0B"/>
                </a:solidFill>
                <a:latin typeface="Arial"/>
              </a:defRPr>
            </a:pPr>
            <a:r>
              <a:t>7. دليل إجابات المناقشة السريعة (دليل الدفاع للدكتورة)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Arial"/>
              </a:defRPr>
            </a:pPr>
            <a:r>
              <a:t>إجابات مباشرة ومقنعة لأهم 4 أسئلة متوقعة من لجنة التحكيم: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3444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234440"/>
            <a:ext cx="53949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F4444"/>
                </a:solidFill>
                <a:latin typeface="Arial"/>
              </a:defRPr>
            </a:pPr>
            <a:r>
              <a:t>س: لماذا لم تستخدموا داتا كاجل كما هي بدون تعديل؟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الداتا الخام بها 4,622 قيمة مفقودة و 5,948 سجلاً مكرراً.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تفتقر تماماً للنصوص، ومشروعنا يقدم محركاً هجيناً (أرقام + NLP).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مسار التنظيف سمح لنا بإصلاح العيوب وتجهيز نظام متكامل.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5394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Arial"/>
              </a:defRPr>
            </a:pPr>
            <a:r>
              <a:t>س: كيف تعاملتم مع القيم المفقودة (Missing Values)؟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حذفنا الصفوف الناقصة في الـ Target (Burn Rate) لعدم جواز التنبؤ بدونه.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حذفنا السجلات غير المكتملة في الميزات الأساسية.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النتيجة: 12,642 سجلاً صالحاً بنسبة 100%.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88620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886200"/>
            <a:ext cx="5394960" cy="7315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882F6"/>
                </a:solidFill>
                <a:latin typeface="Arial"/>
              </a:defRPr>
            </a:pPr>
            <a:r>
              <a:t>س: لماذا اخترتم حجم 1,000 موظف بالتحديد؟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عينة ممثلة لشركة متوسطة إلى كبيرة (Enterprise Scale).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استخدمنا Stratified Sampling للحفاظ على نسبة الاحتراق 44%.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سرعة فائقة في استجابة قاعدة البيانات (أقل من 200ms).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394960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39496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78BFA"/>
                </a:solidFill>
                <a:latin typeface="Arial"/>
              </a:defRPr>
            </a:pPr>
            <a:r>
              <a:t>س: من أين أتيتم بنصوص الفيدباك (Feedback)؟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صممنا 45 جملة معبرة وربطناها بمعدل إجهاد كل موظف.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هذا مكننا من استخدام نموذج DistilBERT لتحليل المشاعر.</a:t>
            </a:r>
          </a:p>
          <a:p>
            <a:pPr algn="r">
              <a:spcAft>
                <a:spcPts val="6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• الموديل أصبح هجيناً (60% أرقام + 40% نصوص).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